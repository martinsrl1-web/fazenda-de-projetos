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hLuLgOGQqwwqQPiKG+lum6sDzc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7B06C4-83CB-4E7F-B6FB-822D88C5FC76}">
  <a:tblStyle styleId="{437B06C4-83CB-4E7F-B6FB-822D88C5FC7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C9C9C9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C9C9C9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C9C9C9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C9C9C9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  <a:tcStyle>
        <a:fill>
          <a:solidFill>
            <a:srgbClr val="EDEDE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DEDED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9525">
              <a:solidFill>
                <a:srgbClr val="C9C9C9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9050">
              <a:solidFill>
                <a:srgbClr val="C9C9C9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43" Type="http://customschemas.google.com/relationships/presentationmetadata" Target="metadata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Abertura. Pergunte à turma se já viram chave, parafuso ou cano marcados em polegada. Hoje vamos ler o paquímetro em polegada milesimal, com resolução de um milésimo de polegada (.001").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polegada é do sistema inglês. No Brasil usamos o milímetro, mas muitas peças, parafusos, tubos e máquinas vêm em polegada. Por isso o técnico precisa ler e converter as duas unidades. Lembre: 1 polegada = 25,4 mm.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polegada milesimal (ou decimal) divide a polegada em 10, 100, 1000 partes. No sistema inglês o ponto separa os decimais e o zero antes do ponto costuma ser omitido: .725" = 0,725 polegada = 725 milésimos. Mostre que 1/2" e .500" são a mesma medida.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é a escala de polegada do paquímetro, fechado: o zero do nônio coincide com o zero da escala fixa. Na escala fixa cada polegada é dividida em 40 partes de .025". O nônio tem 25 divisões. Normalmente a escala em polegada fica na parte de baixo do paquímetro e a de milímetro em cima.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Entre dois números pequenos há 4 tracinhos de .025": .025, .050, .075 e .100. Na escala fixa, conte: polegada inteira + décimos (números pequenos) + quantos tracinhos de .025 passaram até o zero do nônio. A conta é só com números decimais, sem frações.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É a mesma fórmula do paquímetro em milímetro (1 mm ÷ 20 = 0,05 mm). UEF = unidade da escala fixa; NDN = número de divisões do nônio. Atenção: algumas apostilas trazem ".25" e "0,01" por engano; o certo é .025" por divisão e .001" de resolução.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Procedimento do Telecurso: o mesmo do milímetro. Conte as unidades de .025" à esquerda do zero do nônio e some os milésimos indicados pelo traço do nônio que coincide com um traço da escala fixa.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Exemplo do Telecurso. A linha tracejada marca o último traço da escala fixa antes do zero do nônio: passaram 2 tracinhos de .025 = .050. A linha cheia marca o traço do nônio que coincide: o 14º, ou seja .014. Total .064".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Exemplo do Telecurso. A polegada 1 ficou à esquerda, fora da imagem (a etiqueta no canto mostra). O zero do nônio passou o 7 pequeno (1.700) e ainda não chegou ao primeiro tracinho depois dele. O 21º traço do nônio coincide: .021. Total 1.721".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Caminho inverso: dada a medida, posicionar o cursor. Separe as polegadas inteiras. Divida os milésimos por 25 (porque cada tracinho vale 25 milésimos): o quociente diz quantos tracinhos passam na escala fixa e o resto diz qual traço do nônio deve coincidir. 238 ÷ 25 = 9 resto 13: 9 tracinhos = .225" (2 números pequenos e mais 1 tracinho). O nível Avançado do simulador treina isso.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 calculadora: multiplique por 25,4 para ir de polegada para milímetro; divida por 25,4 para voltar. Arredonde o milímetro para duas casas (centésimo) e a polegada para três casas (milésimo). 1.721 × 25,4 = 43,7134 → 43,71 mm. O nível Avançado do simulador pede leitura e conversão.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Baseado no LabMetro/UFSC (aspectos operacionais) e no Telecurso (conservação). Colocar a peça perto da escala reduz o erro (princípio de Abbe). Nunca medir peça em movimento, por exemplo no torno: é perigoso e gasta os bicos.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linha rosa mostra o traço do nônio que coincide com a escala fixa. Peça que os alunos preencham as três caixas: escala fixa, nônio e a soma. A resposta está no próximo slide. Escala fixa: .300" + 1 × .025" = .325". Nônio: 22º traço coincide = .022". Total .325" + .022" = .347".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Escala fixa: .300" + 1 × .025" = .325". Nônio: 22º traço coincide = .022". Total .325" + .022" = .347".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linha rosa mostra o traço do nônio que coincide com a escala fixa. Peça que os alunos preencham as três caixas: escala fixa, nônio e a soma. A resposta está no próximo slide. Escala fixa: 1" + .200" + 1 × .025" = 1.225". Nônio: 13º traço coincide = .013". Total 1.225" + .013" = 1.238".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Escala fixa: 1" + .200" + 1 × .025" = 1.225". Nônio: 13º traço coincide = .013". Total 1.225" + .013" = 1.238".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linha rosa mostra o traço do nônio que coincide com a escala fixa. Peça que os alunos preencham as três caixas: escala fixa, nônio e a soma. A resposta está no próximo slide. Escala fixa: 2" + .500" = 2.500". Nônio: 6º traço coincide = .006". Total 2.500" + .006" = 2.506".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Escala fixa: 2" + .500" = 2.500". Nônio: 6º traço coincide = .006". Total 2.500" + .006" = 2.506".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linha rosa mostra o traço do nônio que coincide com a escala fixa. Peça que os alunos preencham as três caixas: escala fixa, nônio e a soma. A resposta está no próximo slide. Escala fixa: .800". Nônio: 19º traço coincide = .019". Total .800" + .019" = .819".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Escala fixa: .800". Nônio: 19º traço coincide = .019". Total .800" + .019" = .819".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linha rosa mostra o traço do nônio que coincide com a escala fixa. Peça que os alunos preencham as três caixas: escala fixa, nônio e a soma. A resposta está no próximo slide. Escala fixa: 2" + .100" + 2 × .025" = 2.150". O zero do nônio coincide com um traço da escala fixa: não há nada a somar. Total 2.150" + .000" = 2.150".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Escala fixa: 2" + .100" + 2 × .025" = 2.150". O zero do nônio coincide com um traço da escala fixa: não há nada a somar. Total 2.150" + .000" = 2.150".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linha rosa mostra o traço do nônio que coincide com a escala fixa. Peça que os alunos preencham as três caixas: escala fixa, nônio e a soma. A resposta está no próximo slide. Escala fixa: 1" + .400" + 2 × .025" = 1.450". Nônio: 15º traço coincide = .015". Total 1.450" + .015" = 1.465".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Escala fixa: 1" + .400" + 2 × .025" = 1.450". Nônio: 15º traço coincide = .015". Total 1.450" + .015" = 1.465".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este slide só depois que a turma responder. Peça que um aluno explique cada leitura: primeiro a escala fixa, depois o traço do nônio.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Sugestão: 10 minutos no Explorar com as guias ligadas; depois o Básico. Médio e Avançado podem ficar como tarefa. No fim, cada aluno usa o botão Copiar resultado e envia a pontuação.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0.xml"/><Relationship Id="rId4" Type="http://schemas.openxmlformats.org/officeDocument/2006/relationships/image" Target="../media/image2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4.xml"/><Relationship Id="rId4" Type="http://schemas.openxmlformats.org/officeDocument/2006/relationships/image" Target="../media/image3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5.xml"/><Relationship Id="rId4" Type="http://schemas.openxmlformats.org/officeDocument/2006/relationships/image" Target="../media/image3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6.xml"/><Relationship Id="rId4" Type="http://schemas.openxmlformats.org/officeDocument/2006/relationships/image" Target="../media/image3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9.xml"/><Relationship Id="rId4" Type="http://schemas.openxmlformats.org/officeDocument/2006/relationships/image" Target="../media/image3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0.xml"/><Relationship Id="rId4" Type="http://schemas.openxmlformats.org/officeDocument/2006/relationships/image" Target="../media/image3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1.xml"/><Relationship Id="rId4" Type="http://schemas.openxmlformats.org/officeDocument/2006/relationships/image" Target="../media/image3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2.xml"/><Relationship Id="rId4" Type="http://schemas.openxmlformats.org/officeDocument/2006/relationships/image" Target="../media/image3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3.xml"/><Relationship Id="rId4" Type="http://schemas.openxmlformats.org/officeDocument/2006/relationships/image" Target="../media/image3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4.xml"/><Relationship Id="rId4" Type="http://schemas.openxmlformats.org/officeDocument/2006/relationships/image" Target="../media/image3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5.xml"/><Relationship Id="rId4" Type="http://schemas.openxmlformats.org/officeDocument/2006/relationships/image" Target="../media/image3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6.xml"/><Relationship Id="rId4" Type="http://schemas.openxmlformats.org/officeDocument/2006/relationships/image" Target="../media/image3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7.xml"/><Relationship Id="rId4" Type="http://schemas.openxmlformats.org/officeDocument/2006/relationships/image" Target="../media/image4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8.xml"/><Relationship Id="rId4" Type="http://schemas.openxmlformats.org/officeDocument/2006/relationships/image" Target="../media/image4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9.xml"/><Relationship Id="rId4" Type="http://schemas.openxmlformats.org/officeDocument/2006/relationships/image" Target="../media/image4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0.xml"/><Relationship Id="rId4" Type="http://schemas.openxmlformats.org/officeDocument/2006/relationships/image" Target="../media/image4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13"/>
            <a:ext cx="12192000" cy="68545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type="ctrTitle"/>
          </p:nvPr>
        </p:nvSpPr>
        <p:spPr>
          <a:xfrm>
            <a:off x="6539350" y="1886650"/>
            <a:ext cx="56529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 sz="5300">
                <a:solidFill>
                  <a:schemeClr val="lt1"/>
                </a:solidFill>
              </a:rPr>
              <a:t>Paquímetro em Polegada Milesimal</a:t>
            </a:r>
            <a:endParaRPr b="1" sz="53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6665842" y="6037110"/>
            <a:ext cx="50226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3600">
                <a:solidFill>
                  <a:schemeClr val="lt1"/>
                </a:solidFill>
              </a:rPr>
              <a:t>Prof° Rodrigo Martins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6791900" y="634650"/>
            <a:ext cx="52716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 sz="5500">
                <a:solidFill>
                  <a:schemeClr val="lt1"/>
                </a:solidFill>
              </a:rPr>
              <a:t>Metrologia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Por que estudar polegada?</a:t>
            </a:r>
          </a:p>
        </p:txBody>
      </p:sp>
      <p:sp>
        <p:nvSpPr>
          <p:cNvPr id="4" name="Destaque"/>
          <p:cNvSpPr/>
          <p:nvPr/>
        </p:nvSpPr>
        <p:spPr>
          <a:xfrm>
            <a:off x="548640" y="2011680"/>
            <a:ext cx="4846320" cy="393192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1 polegada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= 25,4 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2628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D9DEEA"/>
                </a:solidFill>
                <a:latin typeface="Calibri"/>
              </a:rPr>
              <a:t>O símbolo " (aspas) indica polegada: 2" = duas polegadas</a:t>
            </a:r>
          </a:p>
        </p:txBody>
      </p:sp>
      <p:sp>
        <p:nvSpPr>
          <p:cNvPr id="8" name="Parafusos e porcas"/>
          <p:cNvSpPr/>
          <p:nvPr/>
        </p:nvSpPr>
        <p:spPr>
          <a:xfrm>
            <a:off x="5760720" y="2011680"/>
            <a:ext cx="589788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217627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Calibri"/>
              </a:rPr>
              <a:t>Parafusos e porcas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670048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Chaves e parafusos de 1/2", 3/8"...</a:t>
            </a:r>
          </a:p>
        </p:txBody>
      </p:sp>
      <p:sp>
        <p:nvSpPr>
          <p:cNvPr id="11" name="Tubos e conexões"/>
          <p:cNvSpPr/>
          <p:nvPr/>
        </p:nvSpPr>
        <p:spPr>
          <a:xfrm>
            <a:off x="5760720" y="3355848"/>
            <a:ext cx="589788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5204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Calibri"/>
              </a:rPr>
              <a:t>Tubos e conexões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014215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Canos e mangueiras de 3/4", 1/2"...</a:t>
            </a:r>
          </a:p>
        </p:txBody>
      </p:sp>
      <p:sp>
        <p:nvSpPr>
          <p:cNvPr id="14" name="Máquinas importadas"/>
          <p:cNvSpPr/>
          <p:nvPr/>
        </p:nvSpPr>
        <p:spPr>
          <a:xfrm>
            <a:off x="5760720" y="4700016"/>
            <a:ext cx="589788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486460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Calibri"/>
              </a:rPr>
              <a:t>Máquinas importadas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5358384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Desenhos e peças dos EUA e da Inglaterra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Polegada milesimal: escrita com ponto</a:t>
            </a:r>
          </a:p>
        </p:txBody>
      </p:sp>
      <p:sp>
        <p:nvSpPr>
          <p:cNvPr id="4" name="Exemplo"/>
          <p:cNvSpPr/>
          <p:nvPr/>
        </p:nvSpPr>
        <p:spPr>
          <a:xfrm>
            <a:off x="548640" y="2011680"/>
            <a:ext cx="4572000" cy="39319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4A5568"/>
                </a:solidFill>
                <a:latin typeface="Calibri"/>
              </a:rPr>
              <a:t>No sistema inglês o ponto separa os decimais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C00000"/>
                </a:solidFill>
                <a:latin typeface="Calibri"/>
              </a:rPr>
              <a:t>.725"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2628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Calibri"/>
              </a:rPr>
              <a:t>lê-se: 725 milésimos de polegada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0" y="2011680"/>
          <a:ext cx="6172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</a:rPr>
                        <a:t>Fração</a:t>
                      </a:r>
                    </a:p>
                  </a:txBody>
                  <a:tcPr anchor="ctr">
                    <a:solidFill>
                      <a:srgbClr val="312B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</a:rPr>
                        <a:t>Milesimal</a:t>
                      </a:r>
                    </a:p>
                  </a:txBody>
                  <a:tcPr anchor="ctr">
                    <a:solidFill>
                      <a:srgbClr val="312B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</a:rPr>
                        <a:t>Milímetro</a:t>
                      </a:r>
                    </a:p>
                  </a:txBody>
                  <a:tcPr anchor="ctr">
                    <a:solidFill>
                      <a:srgbClr val="312B5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1/2"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C00000"/>
                          </a:solidFill>
                          <a:latin typeface="Calibri"/>
                        </a:rPr>
                        <a:t>.500"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12,7 mm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1/4"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C00000"/>
                          </a:solidFill>
                          <a:latin typeface="Calibri"/>
                        </a:rPr>
                        <a:t>.250"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6,35 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1/8"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C00000"/>
                          </a:solidFill>
                          <a:latin typeface="Calibri"/>
                        </a:rPr>
                        <a:t>.125"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3,175 mm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C00000"/>
                          </a:solidFill>
                          <a:latin typeface="Calibri"/>
                        </a:rPr>
                        <a:t>.001"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0,0254 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O paquímetro em polegada milesimal</a:t>
            </a:r>
          </a:p>
        </p:txBody>
      </p:sp>
      <p:pic>
        <p:nvPicPr>
          <p:cNvPr id="4" name="Paquímetro" descr="Paquímetro milesimal fechado: zero do nônio coincide com o zero da escala fix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65960"/>
            <a:ext cx="11064240" cy="33307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33917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Calibri"/>
              </a:rPr>
              <a:t>Escala fixa: </a:t>
            </a:r>
            <a:r>
              <a:rPr sz="2400" b="0">
                <a:solidFill>
                  <a:srgbClr val="002060"/>
                </a:solidFill>
                <a:latin typeface="Calibri"/>
              </a:rPr>
              <a:t>cada tracinho vale .025"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5433917"/>
            <a:ext cx="5394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Calibri"/>
              </a:rPr>
              <a:t>Nônio: </a:t>
            </a:r>
            <a:r>
              <a:rPr sz="2400" b="0">
                <a:solidFill>
                  <a:srgbClr val="002060"/>
                </a:solidFill>
                <a:latin typeface="Calibri"/>
              </a:rPr>
              <a:t>25 divisões, cada traço vale .001"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Como ler a escala fixa</a:t>
            </a:r>
          </a:p>
        </p:txBody>
      </p:sp>
      <p:sp>
        <p:nvSpPr>
          <p:cNvPr id="4" name="Números grandes: polegadas inteiras"/>
          <p:cNvSpPr/>
          <p:nvPr/>
        </p:nvSpPr>
        <p:spPr>
          <a:xfrm>
            <a:off x="548640" y="201168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2860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C00000"/>
                </a:solidFill>
                <a:latin typeface="Calibri"/>
              </a:rPr>
              <a:t>1  2  3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2918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02060"/>
                </a:solidFill>
                <a:latin typeface="Calibri"/>
              </a:rPr>
              <a:t>Números grandes: polegadas inteiras</a:t>
            </a:r>
          </a:p>
        </p:txBody>
      </p:sp>
      <p:sp>
        <p:nvSpPr>
          <p:cNvPr id="7" name="Números pequenos: .100&quot; a .900&quot;"/>
          <p:cNvSpPr/>
          <p:nvPr/>
        </p:nvSpPr>
        <p:spPr>
          <a:xfrm>
            <a:off x="4315968" y="201168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22860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C00000"/>
                </a:solidFill>
                <a:latin typeface="Calibri"/>
              </a:rPr>
              <a:t>1 a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32918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02060"/>
                </a:solidFill>
                <a:latin typeface="Calibri"/>
              </a:rPr>
              <a:t>Números pequenos: .100" a .900"</a:t>
            </a:r>
          </a:p>
        </p:txBody>
      </p:sp>
      <p:sp>
        <p:nvSpPr>
          <p:cNvPr id="10" name="Cada tracinho: 4 entre dois números pequenos"/>
          <p:cNvSpPr/>
          <p:nvPr/>
        </p:nvSpPr>
        <p:spPr>
          <a:xfrm>
            <a:off x="8083296" y="201168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22860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C00000"/>
                </a:solidFill>
                <a:latin typeface="Calibri"/>
              </a:rPr>
              <a:t>.025"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32918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02060"/>
                </a:solidFill>
                <a:latin typeface="Calibri"/>
              </a:rPr>
              <a:t>Cada tracinho: 4 entre dois números pequenos</a:t>
            </a:r>
          </a:p>
        </p:txBody>
      </p:sp>
      <p:sp>
        <p:nvSpPr>
          <p:cNvPr id="13" name="Exemplo"/>
          <p:cNvSpPr/>
          <p:nvPr/>
        </p:nvSpPr>
        <p:spPr>
          <a:xfrm>
            <a:off x="548640" y="4572000"/>
            <a:ext cx="11109960" cy="132588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Exemplo: </a:t>
            </a:r>
            <a:r>
              <a:rPr sz="2600" b="0">
                <a:solidFill>
                  <a:srgbClr val="D9DEEA"/>
                </a:solidFill>
                <a:latin typeface="Calibri"/>
              </a:rPr>
              <a:t>passou o 1 grande, o 7 pequeno e 1 tracinho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1" + .700" + .025" = 1.725"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Resolução: a menor medida do paquímetro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109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02060"/>
                </a:solidFill>
                <a:latin typeface="Calibri"/>
              </a:rPr>
              <a:t>Resolução = UEF ÷ NDN</a:t>
            </a:r>
          </a:p>
        </p:txBody>
      </p:sp>
      <p:sp>
        <p:nvSpPr>
          <p:cNvPr id="5" name="UEF"/>
          <p:cNvSpPr/>
          <p:nvPr/>
        </p:nvSpPr>
        <p:spPr>
          <a:xfrm>
            <a:off x="548640" y="297180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UEF (escala fixa)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2060"/>
                </a:solidFill>
                <a:latin typeface="Calibri"/>
              </a:rPr>
              <a:t>1" ÷ 40 = .025"</a:t>
            </a:r>
          </a:p>
        </p:txBody>
      </p:sp>
      <p:sp>
        <p:nvSpPr>
          <p:cNvPr id="8" name="NDN"/>
          <p:cNvSpPr/>
          <p:nvPr/>
        </p:nvSpPr>
        <p:spPr>
          <a:xfrm>
            <a:off x="4315968" y="297180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NDN (nônio)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36118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2060"/>
                </a:solidFill>
                <a:latin typeface="Calibri"/>
              </a:rPr>
              <a:t>25 divisões</a:t>
            </a:r>
          </a:p>
        </p:txBody>
      </p:sp>
      <p:sp>
        <p:nvSpPr>
          <p:cNvPr id="11" name="Resultado"/>
          <p:cNvSpPr/>
          <p:nvPr/>
        </p:nvSpPr>
        <p:spPr>
          <a:xfrm>
            <a:off x="8092440" y="297180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9DEEA"/>
                </a:solidFill>
                <a:latin typeface="Calibri"/>
              </a:rPr>
              <a:t>Resolução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6118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.025 ÷ 25 = .001"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1109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0">
                <a:solidFill>
                  <a:srgbClr val="002060"/>
                </a:solidFill>
                <a:latin typeface="Calibri"/>
              </a:rPr>
              <a:t>Cada traço do nônio vale um milésimo de polegada (.001" = 0,0254 mm).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Leitura em três passos</a:t>
            </a:r>
          </a:p>
        </p:txBody>
      </p:sp>
      <p:sp>
        <p:nvSpPr>
          <p:cNvPr id="4" name="Leia a escala fixa"/>
          <p:cNvSpPr/>
          <p:nvPr/>
        </p:nvSpPr>
        <p:spPr>
          <a:xfrm>
            <a:off x="548640" y="2011680"/>
            <a:ext cx="1110996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sso 1"/>
          <p:cNvSpPr/>
          <p:nvPr/>
        </p:nvSpPr>
        <p:spPr>
          <a:xfrm>
            <a:off x="777240" y="2194560"/>
            <a:ext cx="82296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139696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Calibri"/>
              </a:rPr>
              <a:t>Leia a escala fixa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65176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Até o zero do nônio: polegadas + números pequenos + tracinhos de .025".</a:t>
            </a:r>
          </a:p>
        </p:txBody>
      </p:sp>
      <p:sp>
        <p:nvSpPr>
          <p:cNvPr id="9" name="Ache o traço que coincide"/>
          <p:cNvSpPr/>
          <p:nvPr/>
        </p:nvSpPr>
        <p:spPr>
          <a:xfrm>
            <a:off x="548640" y="3364992"/>
            <a:ext cx="1110996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sso 2"/>
          <p:cNvSpPr/>
          <p:nvPr/>
        </p:nvSpPr>
        <p:spPr>
          <a:xfrm>
            <a:off x="777240" y="3547872"/>
            <a:ext cx="82296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930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Calibri"/>
              </a:rPr>
              <a:t>Ache o traço que coincide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005072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O traço do nônio alinhado com um traço da escala fixa. Cada um vale .001".</a:t>
            </a:r>
          </a:p>
        </p:txBody>
      </p:sp>
      <p:sp>
        <p:nvSpPr>
          <p:cNvPr id="14" name="Some as duas leituras"/>
          <p:cNvSpPr/>
          <p:nvPr/>
        </p:nvSpPr>
        <p:spPr>
          <a:xfrm>
            <a:off x="548640" y="4718304"/>
            <a:ext cx="1110996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sso 3"/>
          <p:cNvSpPr/>
          <p:nvPr/>
        </p:nvSpPr>
        <p:spPr>
          <a:xfrm>
            <a:off x="777240" y="4901184"/>
            <a:ext cx="82296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01184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84632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Calibri"/>
              </a:rPr>
              <a:t>Some as duas leituras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358384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Escala fixa + nônio = leitura.  Ex.: 1.700" + .021" = 1.721".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Exemplo 1: .064"</a:t>
            </a:r>
          </a:p>
        </p:txBody>
      </p:sp>
      <p:pic>
        <p:nvPicPr>
          <p:cNvPr id="4" name="Paquímetro" descr="Paquímetro milesimal: escala fixa em .050 e 14º traço do nônio coincidin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65960"/>
            <a:ext cx="11064240" cy="3330797"/>
          </a:xfrm>
          <a:prstGeom prst="rect">
            <a:avLst/>
          </a:prstGeom>
        </p:spPr>
      </p:pic>
      <p:sp>
        <p:nvSpPr>
          <p:cNvPr id="5" name="Escala fixa"/>
          <p:cNvSpPr/>
          <p:nvPr/>
        </p:nvSpPr>
        <p:spPr>
          <a:xfrm>
            <a:off x="603503" y="5406485"/>
            <a:ext cx="3593591" cy="7315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5406485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Calibri"/>
              </a:rPr>
              <a:t>Escala fixa  </a:t>
            </a:r>
            <a:r>
              <a:rPr sz="3000" b="1">
                <a:solidFill>
                  <a:srgbClr val="002060"/>
                </a:solidFill>
                <a:latin typeface="Calibri"/>
              </a:rPr>
              <a:t>.050"</a:t>
            </a:r>
          </a:p>
        </p:txBody>
      </p:sp>
      <p:sp>
        <p:nvSpPr>
          <p:cNvPr id="7" name="Nônio, 14º traço"/>
          <p:cNvSpPr/>
          <p:nvPr/>
        </p:nvSpPr>
        <p:spPr>
          <a:xfrm>
            <a:off x="4306823" y="5406485"/>
            <a:ext cx="3593591" cy="7315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5406485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Calibri"/>
              </a:rPr>
              <a:t>Nônio, 14º traço  </a:t>
            </a:r>
            <a:r>
              <a:rPr sz="3000" b="1">
                <a:solidFill>
                  <a:srgbClr val="002060"/>
                </a:solidFill>
                <a:latin typeface="Calibri"/>
              </a:rPr>
              <a:t>+ .014"</a:t>
            </a:r>
          </a:p>
        </p:txBody>
      </p:sp>
      <p:sp>
        <p:nvSpPr>
          <p:cNvPr id="9" name="Leitura"/>
          <p:cNvSpPr/>
          <p:nvPr/>
        </p:nvSpPr>
        <p:spPr>
          <a:xfrm>
            <a:off x="8010144" y="5406485"/>
            <a:ext cx="3593591" cy="73152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5406485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D9DEEA"/>
                </a:solidFill>
                <a:latin typeface="Calibri"/>
              </a:rPr>
              <a:t>Leitura  </a:t>
            </a:r>
            <a:r>
              <a:rPr sz="3000" b="1">
                <a:solidFill>
                  <a:srgbClr val="FFFFFF"/>
                </a:solidFill>
                <a:latin typeface="Calibri"/>
              </a:rPr>
              <a:t>= .064"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Exemplo 2: 1.721"</a:t>
            </a:r>
          </a:p>
        </p:txBody>
      </p:sp>
      <p:pic>
        <p:nvPicPr>
          <p:cNvPr id="4" name="Paquímetro" descr="Paquímetro milesimal: escala fixa em 1.700 e 21º traço do nônio coincidin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65960"/>
            <a:ext cx="11064240" cy="3330797"/>
          </a:xfrm>
          <a:prstGeom prst="rect">
            <a:avLst/>
          </a:prstGeom>
        </p:spPr>
      </p:pic>
      <p:sp>
        <p:nvSpPr>
          <p:cNvPr id="5" name="Escala fixa"/>
          <p:cNvSpPr/>
          <p:nvPr/>
        </p:nvSpPr>
        <p:spPr>
          <a:xfrm>
            <a:off x="603503" y="5406485"/>
            <a:ext cx="3593591" cy="7315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5406485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Calibri"/>
              </a:rPr>
              <a:t>Escala fixa  </a:t>
            </a:r>
            <a:r>
              <a:rPr sz="3000" b="1">
                <a:solidFill>
                  <a:srgbClr val="002060"/>
                </a:solidFill>
                <a:latin typeface="Calibri"/>
              </a:rPr>
              <a:t>1.700"</a:t>
            </a:r>
          </a:p>
        </p:txBody>
      </p:sp>
      <p:sp>
        <p:nvSpPr>
          <p:cNvPr id="7" name="Nônio, 21º traço"/>
          <p:cNvSpPr/>
          <p:nvPr/>
        </p:nvSpPr>
        <p:spPr>
          <a:xfrm>
            <a:off x="4306823" y="5406485"/>
            <a:ext cx="3593591" cy="7315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5406485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Calibri"/>
              </a:rPr>
              <a:t>Nônio, 21º traço  </a:t>
            </a:r>
            <a:r>
              <a:rPr sz="3000" b="1">
                <a:solidFill>
                  <a:srgbClr val="002060"/>
                </a:solidFill>
                <a:latin typeface="Calibri"/>
              </a:rPr>
              <a:t>+ .021"</a:t>
            </a:r>
          </a:p>
        </p:txBody>
      </p:sp>
      <p:sp>
        <p:nvSpPr>
          <p:cNvPr id="9" name="Leitura"/>
          <p:cNvSpPr/>
          <p:nvPr/>
        </p:nvSpPr>
        <p:spPr>
          <a:xfrm>
            <a:off x="8010144" y="5406485"/>
            <a:ext cx="3593591" cy="73152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5406485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D9DEEA"/>
                </a:solidFill>
                <a:latin typeface="Calibri"/>
              </a:rPr>
              <a:t>Leitura  </a:t>
            </a:r>
            <a:r>
              <a:rPr sz="3000" b="1">
                <a:solidFill>
                  <a:srgbClr val="FFFFFF"/>
                </a:solidFill>
                <a:latin typeface="Calibri"/>
              </a:rPr>
              <a:t>= 1.721"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Abrir o paquímetro em 1.238"</a:t>
            </a:r>
          </a:p>
        </p:txBody>
      </p:sp>
      <p:sp>
        <p:nvSpPr>
          <p:cNvPr id="4" name="1. Separe as polegadas"/>
          <p:cNvSpPr/>
          <p:nvPr/>
        </p:nvSpPr>
        <p:spPr>
          <a:xfrm>
            <a:off x="548640" y="201168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Calibri"/>
              </a:rPr>
              <a:t>1. Separe as polegadas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Calibri"/>
              </a:rPr>
              <a:t>1.238 → 1" + .238"</a:t>
            </a:r>
          </a:p>
        </p:txBody>
      </p:sp>
      <p:sp>
        <p:nvSpPr>
          <p:cNvPr id="7" name="2. Milésimos ÷ 25"/>
          <p:cNvSpPr/>
          <p:nvPr/>
        </p:nvSpPr>
        <p:spPr>
          <a:xfrm>
            <a:off x="4315968" y="201168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21031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Calibri"/>
              </a:rPr>
              <a:t>2. Milésimos ÷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45059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Calibri"/>
              </a:rPr>
              <a:t>238 ÷ 25 = 9, resto 13</a:t>
            </a:r>
          </a:p>
        </p:txBody>
      </p:sp>
      <p:sp>
        <p:nvSpPr>
          <p:cNvPr id="10" name="3. Posicione"/>
          <p:cNvSpPr/>
          <p:nvPr/>
        </p:nvSpPr>
        <p:spPr>
          <a:xfrm>
            <a:off x="8083296" y="201168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1031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9DEEA"/>
                </a:solidFill>
                <a:latin typeface="Calibri"/>
              </a:rPr>
              <a:t>3. Posicione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1896" y="245059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 tracinhos + 13º traço</a:t>
            </a:r>
          </a:p>
        </p:txBody>
      </p:sp>
      <p:pic>
        <p:nvPicPr>
          <p:cNvPr id="13" name="Paquímetro" descr="Paquímetro milesimal aberto em 1.238 polegad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888" y="3246120"/>
            <a:ext cx="9418320" cy="283530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Conversão: tudo passa por 25,4</a:t>
            </a:r>
          </a:p>
        </p:txBody>
      </p:sp>
      <p:sp>
        <p:nvSpPr>
          <p:cNvPr id="4" name="Polegada → mm:  × 25,4"/>
          <p:cNvSpPr/>
          <p:nvPr/>
        </p:nvSpPr>
        <p:spPr>
          <a:xfrm>
            <a:off x="548640" y="2011680"/>
            <a:ext cx="5468112" cy="39319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  <a:latin typeface="Calibri"/>
              </a:rPr>
              <a:t>Polegada → mm:  × 25,4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48463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800" b="0">
                <a:solidFill>
                  <a:srgbClr val="002060"/>
                </a:solidFill>
                <a:latin typeface="Calibri"/>
              </a:rPr>
              <a:t>1.721" × 25,4 = 43,71 mm</a:t>
            </a:r>
          </a:p>
          <a:p>
            <a:pPr algn="l">
              <a:spcAft>
                <a:spcPts val="1600"/>
              </a:spcAft>
            </a:pPr>
            <a:r>
              <a:rPr sz="2800" b="0">
                <a:solidFill>
                  <a:srgbClr val="002060"/>
                </a:solidFill>
                <a:latin typeface="Calibri"/>
              </a:rPr>
              <a:t>.500" × 25,4 = 12,7 mm</a:t>
            </a:r>
          </a:p>
          <a:p>
            <a:pPr algn="l">
              <a:spcAft>
                <a:spcPts val="1600"/>
              </a:spcAft>
            </a:pPr>
            <a:r>
              <a:rPr sz="2800" b="0">
                <a:solidFill>
                  <a:srgbClr val="002060"/>
                </a:solidFill>
                <a:latin typeface="Calibri"/>
              </a:rPr>
              <a:t>.001" × 25,4 = 0,0254 mm</a:t>
            </a:r>
          </a:p>
        </p:txBody>
      </p:sp>
      <p:sp>
        <p:nvSpPr>
          <p:cNvPr id="7" name="mm → polegada:  ÷ 25,4"/>
          <p:cNvSpPr/>
          <p:nvPr/>
        </p:nvSpPr>
        <p:spPr>
          <a:xfrm>
            <a:off x="6190488" y="2011680"/>
            <a:ext cx="5468112" cy="39319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7" y="22860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  <a:latin typeface="Calibri"/>
              </a:rPr>
              <a:t>mm → polegada:  ÷ 25,4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7" y="3200400"/>
            <a:ext cx="48463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800" b="0">
                <a:solidFill>
                  <a:srgbClr val="002060"/>
                </a:solidFill>
                <a:latin typeface="Calibri"/>
              </a:rPr>
              <a:t>12,7 mm ÷ 25,4 = .500"</a:t>
            </a:r>
          </a:p>
          <a:p>
            <a:pPr algn="l">
              <a:spcAft>
                <a:spcPts val="1600"/>
              </a:spcAft>
            </a:pPr>
            <a:r>
              <a:rPr sz="2800" b="0">
                <a:solidFill>
                  <a:srgbClr val="002060"/>
                </a:solidFill>
                <a:latin typeface="Calibri"/>
              </a:rPr>
              <a:t>6,35 mm ÷ 25,4 = .250"</a:t>
            </a:r>
          </a:p>
          <a:p>
            <a:pPr algn="l">
              <a:spcAft>
                <a:spcPts val="1600"/>
              </a:spcAft>
            </a:pPr>
            <a:r>
              <a:rPr sz="2800" b="0">
                <a:solidFill>
                  <a:srgbClr val="002060"/>
                </a:solidFill>
                <a:latin typeface="Calibri"/>
              </a:rPr>
              <a:t>25 mm ÷ 25,4 = .984"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Cuidados para medir certo</a:t>
            </a:r>
          </a:p>
        </p:txBody>
      </p:sp>
      <p:sp>
        <p:nvSpPr>
          <p:cNvPr id="4" name="Olhe de frente"/>
          <p:cNvSpPr/>
          <p:nvPr/>
        </p:nvSpPr>
        <p:spPr>
          <a:xfrm>
            <a:off x="548640" y="20116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2402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C00000"/>
                </a:solidFill>
                <a:latin typeface="Calibri"/>
              </a:rPr>
              <a:t>Olhe de frente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83464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2060"/>
                </a:solidFill>
                <a:latin typeface="Calibri"/>
              </a:rPr>
              <a:t>Olhar de lado causa erro de paralaxe.</a:t>
            </a:r>
          </a:p>
        </p:txBody>
      </p:sp>
      <p:sp>
        <p:nvSpPr>
          <p:cNvPr id="7" name="Não aperte demais"/>
          <p:cNvSpPr/>
          <p:nvPr/>
        </p:nvSpPr>
        <p:spPr>
          <a:xfrm>
            <a:off x="4315968" y="20116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22402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C00000"/>
                </a:solidFill>
                <a:latin typeface="Calibri"/>
              </a:rPr>
              <a:t>Não aperte demais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83464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2060"/>
                </a:solidFill>
                <a:latin typeface="Calibri"/>
              </a:rPr>
              <a:t>Força excessiva altera a leitura.</a:t>
            </a:r>
          </a:p>
        </p:txBody>
      </p:sp>
      <p:sp>
        <p:nvSpPr>
          <p:cNvPr id="10" name="Peça perto da escala"/>
          <p:cNvSpPr/>
          <p:nvPr/>
        </p:nvSpPr>
        <p:spPr>
          <a:xfrm>
            <a:off x="8083296" y="20116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22402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C00000"/>
                </a:solidFill>
                <a:latin typeface="Calibri"/>
              </a:rPr>
              <a:t>Peça perto da escala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283464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2060"/>
                </a:solidFill>
                <a:latin typeface="Calibri"/>
              </a:rPr>
              <a:t>Meça com o fundo dos bicos.</a:t>
            </a:r>
          </a:p>
        </p:txBody>
      </p:sp>
      <p:sp>
        <p:nvSpPr>
          <p:cNvPr id="13" name="Peça parada"/>
          <p:cNvSpPr/>
          <p:nvPr/>
        </p:nvSpPr>
        <p:spPr>
          <a:xfrm>
            <a:off x="548640" y="402336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2519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C00000"/>
                </a:solidFill>
                <a:latin typeface="Calibri"/>
              </a:rPr>
              <a:t>Peça parada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84632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2060"/>
                </a:solidFill>
                <a:latin typeface="Calibri"/>
              </a:rPr>
              <a:t>Desligue a máquina antes de medir.</a:t>
            </a:r>
          </a:p>
        </p:txBody>
      </p:sp>
      <p:sp>
        <p:nvSpPr>
          <p:cNvPr id="16" name="Confira o zero"/>
          <p:cNvSpPr/>
          <p:nvPr/>
        </p:nvSpPr>
        <p:spPr>
          <a:xfrm>
            <a:off x="4315968" y="402336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42519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C00000"/>
                </a:solidFill>
                <a:latin typeface="Calibri"/>
              </a:rPr>
              <a:t>Confira o zero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484632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2060"/>
                </a:solidFill>
                <a:latin typeface="Calibri"/>
              </a:rPr>
              <a:t>Fechado e limpo, os zeros coincidem.</a:t>
            </a:r>
          </a:p>
        </p:txBody>
      </p:sp>
      <p:sp>
        <p:nvSpPr>
          <p:cNvPr id="19" name="Guarde no estojo"/>
          <p:cNvSpPr/>
          <p:nvPr/>
        </p:nvSpPr>
        <p:spPr>
          <a:xfrm>
            <a:off x="8083296" y="402336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42519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C00000"/>
                </a:solidFill>
                <a:latin typeface="Calibri"/>
              </a:rPr>
              <a:t>Guarde no estojo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484632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2060"/>
                </a:solidFill>
                <a:latin typeface="Calibri"/>
              </a:rPr>
              <a:t>Limpo, sem pancadas.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Exercício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02060"/>
                </a:solidFill>
                <a:latin typeface="Calibri"/>
              </a:rPr>
              <a:t>Qual é a leitura? A </a:t>
            </a:r>
            <a:r>
              <a:rPr sz="2400" b="1">
                <a:solidFill>
                  <a:srgbClr val="E01E84"/>
                </a:solidFill>
                <a:latin typeface="Calibri"/>
              </a:rPr>
              <a:t>linha rosa</a:t>
            </a:r>
            <a:r>
              <a:rPr sz="2400" b="0">
                <a:solidFill>
                  <a:srgbClr val="002060"/>
                </a:solidFill>
                <a:latin typeface="Calibri"/>
              </a:rPr>
              <a:t> mostra o traço que coincide.</a:t>
            </a:r>
          </a:p>
        </p:txBody>
      </p:sp>
      <p:pic>
        <p:nvPicPr>
          <p:cNvPr id="5" name="Paquímetro" descr="Exercício 1: paquímetro milesimal com o traço coincidente marc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7818120" cy="2353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15400" y="2057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Escala fixa</a:t>
            </a:r>
          </a:p>
        </p:txBody>
      </p:sp>
      <p:sp>
        <p:nvSpPr>
          <p:cNvPr id="7" name="Caixa Escala fixa"/>
          <p:cNvSpPr/>
          <p:nvPr/>
        </p:nvSpPr>
        <p:spPr>
          <a:xfrm>
            <a:off x="8915400" y="240487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3154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Nônio</a:t>
            </a:r>
          </a:p>
        </p:txBody>
      </p:sp>
      <p:sp>
        <p:nvSpPr>
          <p:cNvPr id="9" name="Caixa Nônio"/>
          <p:cNvSpPr/>
          <p:nvPr/>
        </p:nvSpPr>
        <p:spPr>
          <a:xfrm>
            <a:off x="8915400" y="350215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502152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453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Leitura</a:t>
            </a:r>
          </a:p>
        </p:txBody>
      </p:sp>
      <p:sp>
        <p:nvSpPr>
          <p:cNvPr id="12" name="Caixa Leitura"/>
          <p:cNvSpPr/>
          <p:nvPr/>
        </p:nvSpPr>
        <p:spPr>
          <a:xfrm>
            <a:off x="8915400" y="4800600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80060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=</a:t>
            </a:r>
          </a:p>
        </p:txBody>
      </p:sp>
      <p:cxnSp>
        <p:nvCxnSpPr>
          <p:cNvPr id="14" name="Traço da soma"/>
          <p:cNvCxnSpPr/>
          <p:nvPr/>
        </p:nvCxnSpPr>
        <p:spPr>
          <a:xfrm>
            <a:off x="8412480" y="4325112"/>
            <a:ext cx="324612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Exercício 1: resposta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86A00"/>
                </a:solidFill>
                <a:latin typeface="Calibri"/>
              </a:rPr>
              <a:t>Tracejado: </a:t>
            </a:r>
            <a:r>
              <a:rPr sz="2400" b="0">
                <a:solidFill>
                  <a:srgbClr val="002060"/>
                </a:solidFill>
                <a:latin typeface="Calibri"/>
              </a:rPr>
              <a:t>escala fixa   </a:t>
            </a:r>
            <a:r>
              <a:rPr sz="2400" b="1">
                <a:solidFill>
                  <a:srgbClr val="C86A00"/>
                </a:solidFill>
                <a:latin typeface="Calibri"/>
              </a:rPr>
              <a:t>Linha cheia: </a:t>
            </a:r>
            <a:r>
              <a:rPr sz="2400" b="0">
                <a:solidFill>
                  <a:srgbClr val="002060"/>
                </a:solidFill>
                <a:latin typeface="Calibri"/>
              </a:rPr>
              <a:t>traço do nônio</a:t>
            </a:r>
          </a:p>
        </p:txBody>
      </p:sp>
      <p:pic>
        <p:nvPicPr>
          <p:cNvPr id="5" name="Paquímetro" descr="Exercício 1: resposta, com a escala fixa e o traço do nônio marcad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7818120" cy="2353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88219"/>
            <a:ext cx="7818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Escala fixa: .300" + 1 × .025" = .325"   ·   nônio: 22º traço = .022"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2057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Escala fixa</a:t>
            </a:r>
          </a:p>
        </p:txBody>
      </p:sp>
      <p:sp>
        <p:nvSpPr>
          <p:cNvPr id="8" name="Caixa Escala fixa"/>
          <p:cNvSpPr/>
          <p:nvPr/>
        </p:nvSpPr>
        <p:spPr>
          <a:xfrm>
            <a:off x="8915400" y="240487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2404872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002060"/>
                </a:solidFill>
                <a:latin typeface="Calibri"/>
              </a:rPr>
              <a:t>.325"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154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Nônio</a:t>
            </a:r>
          </a:p>
        </p:txBody>
      </p:sp>
      <p:sp>
        <p:nvSpPr>
          <p:cNvPr id="11" name="Caixa Nônio"/>
          <p:cNvSpPr/>
          <p:nvPr/>
        </p:nvSpPr>
        <p:spPr>
          <a:xfrm>
            <a:off x="8915400" y="350215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502152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502152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002060"/>
                </a:solidFill>
                <a:latin typeface="Calibri"/>
              </a:rPr>
              <a:t>.022"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453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Leitura</a:t>
            </a:r>
          </a:p>
        </p:txBody>
      </p:sp>
      <p:sp>
        <p:nvSpPr>
          <p:cNvPr id="15" name="Caixa Leitura"/>
          <p:cNvSpPr/>
          <p:nvPr/>
        </p:nvSpPr>
        <p:spPr>
          <a:xfrm>
            <a:off x="8915400" y="4800600"/>
            <a:ext cx="2743200" cy="658368"/>
          </a:xfrm>
          <a:prstGeom prst="rect">
            <a:avLst/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80060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4800600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FFFFFF"/>
                </a:solidFill>
                <a:latin typeface="Calibri"/>
              </a:rPr>
              <a:t>.347"</a:t>
            </a:r>
          </a:p>
        </p:txBody>
      </p:sp>
      <p:cxnSp>
        <p:nvCxnSpPr>
          <p:cNvPr id="18" name="Traço da soma"/>
          <p:cNvCxnSpPr/>
          <p:nvPr/>
        </p:nvCxnSpPr>
        <p:spPr>
          <a:xfrm>
            <a:off x="8412480" y="4325112"/>
            <a:ext cx="324612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Exercício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02060"/>
                </a:solidFill>
                <a:latin typeface="Calibri"/>
              </a:rPr>
              <a:t>Qual é a leitura? A </a:t>
            </a:r>
            <a:r>
              <a:rPr sz="2400" b="1">
                <a:solidFill>
                  <a:srgbClr val="E01E84"/>
                </a:solidFill>
                <a:latin typeface="Calibri"/>
              </a:rPr>
              <a:t>linha rosa</a:t>
            </a:r>
            <a:r>
              <a:rPr sz="2400" b="0">
                <a:solidFill>
                  <a:srgbClr val="002060"/>
                </a:solidFill>
                <a:latin typeface="Calibri"/>
              </a:rPr>
              <a:t> mostra o traço que coincide.</a:t>
            </a:r>
          </a:p>
        </p:txBody>
      </p:sp>
      <p:pic>
        <p:nvPicPr>
          <p:cNvPr id="5" name="Paquímetro" descr="Exercício 2: paquímetro milesimal com o traço coincidente marc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7818120" cy="2353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15400" y="2057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Escala fixa</a:t>
            </a:r>
          </a:p>
        </p:txBody>
      </p:sp>
      <p:sp>
        <p:nvSpPr>
          <p:cNvPr id="7" name="Caixa Escala fixa"/>
          <p:cNvSpPr/>
          <p:nvPr/>
        </p:nvSpPr>
        <p:spPr>
          <a:xfrm>
            <a:off x="8915400" y="240487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3154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Nônio</a:t>
            </a:r>
          </a:p>
        </p:txBody>
      </p:sp>
      <p:sp>
        <p:nvSpPr>
          <p:cNvPr id="9" name="Caixa Nônio"/>
          <p:cNvSpPr/>
          <p:nvPr/>
        </p:nvSpPr>
        <p:spPr>
          <a:xfrm>
            <a:off x="8915400" y="350215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502152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453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Leitura</a:t>
            </a:r>
          </a:p>
        </p:txBody>
      </p:sp>
      <p:sp>
        <p:nvSpPr>
          <p:cNvPr id="12" name="Caixa Leitura"/>
          <p:cNvSpPr/>
          <p:nvPr/>
        </p:nvSpPr>
        <p:spPr>
          <a:xfrm>
            <a:off x="8915400" y="4800600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80060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=</a:t>
            </a:r>
          </a:p>
        </p:txBody>
      </p:sp>
      <p:cxnSp>
        <p:nvCxnSpPr>
          <p:cNvPr id="14" name="Traço da soma"/>
          <p:cNvCxnSpPr/>
          <p:nvPr/>
        </p:nvCxnSpPr>
        <p:spPr>
          <a:xfrm>
            <a:off x="8412480" y="4325112"/>
            <a:ext cx="324612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Exercício 2: resposta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86A00"/>
                </a:solidFill>
                <a:latin typeface="Calibri"/>
              </a:rPr>
              <a:t>Tracejado: </a:t>
            </a:r>
            <a:r>
              <a:rPr sz="2400" b="0">
                <a:solidFill>
                  <a:srgbClr val="002060"/>
                </a:solidFill>
                <a:latin typeface="Calibri"/>
              </a:rPr>
              <a:t>escala fixa   </a:t>
            </a:r>
            <a:r>
              <a:rPr sz="2400" b="1">
                <a:solidFill>
                  <a:srgbClr val="C86A00"/>
                </a:solidFill>
                <a:latin typeface="Calibri"/>
              </a:rPr>
              <a:t>Linha cheia: </a:t>
            </a:r>
            <a:r>
              <a:rPr sz="2400" b="0">
                <a:solidFill>
                  <a:srgbClr val="002060"/>
                </a:solidFill>
                <a:latin typeface="Calibri"/>
              </a:rPr>
              <a:t>traço do nônio</a:t>
            </a:r>
          </a:p>
        </p:txBody>
      </p:sp>
      <p:pic>
        <p:nvPicPr>
          <p:cNvPr id="5" name="Paquímetro" descr="Exercício 2: resposta, com a escala fixa e o traço do nônio marcad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7818120" cy="2353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88219"/>
            <a:ext cx="7818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Escala fixa: 1" + .200" + 1 × .025" = 1.225"   ·   nônio: 13º traço = .013"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2057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Escala fixa</a:t>
            </a:r>
          </a:p>
        </p:txBody>
      </p:sp>
      <p:sp>
        <p:nvSpPr>
          <p:cNvPr id="8" name="Caixa Escala fixa"/>
          <p:cNvSpPr/>
          <p:nvPr/>
        </p:nvSpPr>
        <p:spPr>
          <a:xfrm>
            <a:off x="8915400" y="240487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2404872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002060"/>
                </a:solidFill>
                <a:latin typeface="Calibri"/>
              </a:rPr>
              <a:t>1.225"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154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Nônio</a:t>
            </a:r>
          </a:p>
        </p:txBody>
      </p:sp>
      <p:sp>
        <p:nvSpPr>
          <p:cNvPr id="11" name="Caixa Nônio"/>
          <p:cNvSpPr/>
          <p:nvPr/>
        </p:nvSpPr>
        <p:spPr>
          <a:xfrm>
            <a:off x="8915400" y="350215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502152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502152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002060"/>
                </a:solidFill>
                <a:latin typeface="Calibri"/>
              </a:rPr>
              <a:t>.013"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453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Leitura</a:t>
            </a:r>
          </a:p>
        </p:txBody>
      </p:sp>
      <p:sp>
        <p:nvSpPr>
          <p:cNvPr id="15" name="Caixa Leitura"/>
          <p:cNvSpPr/>
          <p:nvPr/>
        </p:nvSpPr>
        <p:spPr>
          <a:xfrm>
            <a:off x="8915400" y="4800600"/>
            <a:ext cx="2743200" cy="658368"/>
          </a:xfrm>
          <a:prstGeom prst="rect">
            <a:avLst/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80060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4800600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FFFFFF"/>
                </a:solidFill>
                <a:latin typeface="Calibri"/>
              </a:rPr>
              <a:t>1.238"</a:t>
            </a:r>
          </a:p>
        </p:txBody>
      </p:sp>
      <p:cxnSp>
        <p:nvCxnSpPr>
          <p:cNvPr id="18" name="Traço da soma"/>
          <p:cNvCxnSpPr/>
          <p:nvPr/>
        </p:nvCxnSpPr>
        <p:spPr>
          <a:xfrm>
            <a:off x="8412480" y="4325112"/>
            <a:ext cx="324612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Exercício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02060"/>
                </a:solidFill>
                <a:latin typeface="Calibri"/>
              </a:rPr>
              <a:t>Qual é a leitura? A </a:t>
            </a:r>
            <a:r>
              <a:rPr sz="2400" b="1">
                <a:solidFill>
                  <a:srgbClr val="E01E84"/>
                </a:solidFill>
                <a:latin typeface="Calibri"/>
              </a:rPr>
              <a:t>linha rosa</a:t>
            </a:r>
            <a:r>
              <a:rPr sz="2400" b="0">
                <a:solidFill>
                  <a:srgbClr val="002060"/>
                </a:solidFill>
                <a:latin typeface="Calibri"/>
              </a:rPr>
              <a:t> mostra o traço que coincide.</a:t>
            </a:r>
          </a:p>
        </p:txBody>
      </p:sp>
      <p:pic>
        <p:nvPicPr>
          <p:cNvPr id="5" name="Paquímetro" descr="Exercício 3: paquímetro milesimal com o traço coincidente marc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7818120" cy="2353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15400" y="2057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Escala fixa</a:t>
            </a:r>
          </a:p>
        </p:txBody>
      </p:sp>
      <p:sp>
        <p:nvSpPr>
          <p:cNvPr id="7" name="Caixa Escala fixa"/>
          <p:cNvSpPr/>
          <p:nvPr/>
        </p:nvSpPr>
        <p:spPr>
          <a:xfrm>
            <a:off x="8915400" y="240487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3154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Nônio</a:t>
            </a:r>
          </a:p>
        </p:txBody>
      </p:sp>
      <p:sp>
        <p:nvSpPr>
          <p:cNvPr id="9" name="Caixa Nônio"/>
          <p:cNvSpPr/>
          <p:nvPr/>
        </p:nvSpPr>
        <p:spPr>
          <a:xfrm>
            <a:off x="8915400" y="350215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502152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453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Leitura</a:t>
            </a:r>
          </a:p>
        </p:txBody>
      </p:sp>
      <p:sp>
        <p:nvSpPr>
          <p:cNvPr id="12" name="Caixa Leitura"/>
          <p:cNvSpPr/>
          <p:nvPr/>
        </p:nvSpPr>
        <p:spPr>
          <a:xfrm>
            <a:off x="8915400" y="4800600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80060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=</a:t>
            </a:r>
          </a:p>
        </p:txBody>
      </p:sp>
      <p:cxnSp>
        <p:nvCxnSpPr>
          <p:cNvPr id="14" name="Traço da soma"/>
          <p:cNvCxnSpPr/>
          <p:nvPr/>
        </p:nvCxnSpPr>
        <p:spPr>
          <a:xfrm>
            <a:off x="8412480" y="4325112"/>
            <a:ext cx="324612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Exercício 3: resposta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86A00"/>
                </a:solidFill>
                <a:latin typeface="Calibri"/>
              </a:rPr>
              <a:t>Tracejado: </a:t>
            </a:r>
            <a:r>
              <a:rPr sz="2400" b="0">
                <a:solidFill>
                  <a:srgbClr val="002060"/>
                </a:solidFill>
                <a:latin typeface="Calibri"/>
              </a:rPr>
              <a:t>escala fixa   </a:t>
            </a:r>
            <a:r>
              <a:rPr sz="2400" b="1">
                <a:solidFill>
                  <a:srgbClr val="C86A00"/>
                </a:solidFill>
                <a:latin typeface="Calibri"/>
              </a:rPr>
              <a:t>Linha cheia: </a:t>
            </a:r>
            <a:r>
              <a:rPr sz="2400" b="0">
                <a:solidFill>
                  <a:srgbClr val="002060"/>
                </a:solidFill>
                <a:latin typeface="Calibri"/>
              </a:rPr>
              <a:t>traço do nônio</a:t>
            </a:r>
          </a:p>
        </p:txBody>
      </p:sp>
      <p:pic>
        <p:nvPicPr>
          <p:cNvPr id="5" name="Paquímetro" descr="Exercício 3: resposta, com a escala fixa e o traço do nônio marcad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7818120" cy="2353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88219"/>
            <a:ext cx="7818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Escala fixa: 2" + .500" = 2.500"   ·   nônio: 6º traço = .006"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2057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Escala fixa</a:t>
            </a:r>
          </a:p>
        </p:txBody>
      </p:sp>
      <p:sp>
        <p:nvSpPr>
          <p:cNvPr id="8" name="Caixa Escala fixa"/>
          <p:cNvSpPr/>
          <p:nvPr/>
        </p:nvSpPr>
        <p:spPr>
          <a:xfrm>
            <a:off x="8915400" y="240487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2404872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002060"/>
                </a:solidFill>
                <a:latin typeface="Calibri"/>
              </a:rPr>
              <a:t>2.500"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154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Nônio</a:t>
            </a:r>
          </a:p>
        </p:txBody>
      </p:sp>
      <p:sp>
        <p:nvSpPr>
          <p:cNvPr id="11" name="Caixa Nônio"/>
          <p:cNvSpPr/>
          <p:nvPr/>
        </p:nvSpPr>
        <p:spPr>
          <a:xfrm>
            <a:off x="8915400" y="350215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502152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502152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002060"/>
                </a:solidFill>
                <a:latin typeface="Calibri"/>
              </a:rPr>
              <a:t>.006"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453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Leitura</a:t>
            </a:r>
          </a:p>
        </p:txBody>
      </p:sp>
      <p:sp>
        <p:nvSpPr>
          <p:cNvPr id="15" name="Caixa Leitura"/>
          <p:cNvSpPr/>
          <p:nvPr/>
        </p:nvSpPr>
        <p:spPr>
          <a:xfrm>
            <a:off x="8915400" y="4800600"/>
            <a:ext cx="2743200" cy="658368"/>
          </a:xfrm>
          <a:prstGeom prst="rect">
            <a:avLst/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80060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4800600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FFFFFF"/>
                </a:solidFill>
                <a:latin typeface="Calibri"/>
              </a:rPr>
              <a:t>2.506"</a:t>
            </a:r>
          </a:p>
        </p:txBody>
      </p:sp>
      <p:cxnSp>
        <p:nvCxnSpPr>
          <p:cNvPr id="18" name="Traço da soma"/>
          <p:cNvCxnSpPr/>
          <p:nvPr/>
        </p:nvCxnSpPr>
        <p:spPr>
          <a:xfrm>
            <a:off x="8412480" y="4325112"/>
            <a:ext cx="324612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Exercício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02060"/>
                </a:solidFill>
                <a:latin typeface="Calibri"/>
              </a:rPr>
              <a:t>Qual é a leitura? A </a:t>
            </a:r>
            <a:r>
              <a:rPr sz="2400" b="1">
                <a:solidFill>
                  <a:srgbClr val="E01E84"/>
                </a:solidFill>
                <a:latin typeface="Calibri"/>
              </a:rPr>
              <a:t>linha rosa</a:t>
            </a:r>
            <a:r>
              <a:rPr sz="2400" b="0">
                <a:solidFill>
                  <a:srgbClr val="002060"/>
                </a:solidFill>
                <a:latin typeface="Calibri"/>
              </a:rPr>
              <a:t> mostra o traço que coincide.</a:t>
            </a:r>
          </a:p>
        </p:txBody>
      </p:sp>
      <p:pic>
        <p:nvPicPr>
          <p:cNvPr id="5" name="Paquímetro" descr="Exercício 4: paquímetro milesimal com o traço coincidente marc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7818120" cy="2353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15400" y="2057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Escala fixa</a:t>
            </a:r>
          </a:p>
        </p:txBody>
      </p:sp>
      <p:sp>
        <p:nvSpPr>
          <p:cNvPr id="7" name="Caixa Escala fixa"/>
          <p:cNvSpPr/>
          <p:nvPr/>
        </p:nvSpPr>
        <p:spPr>
          <a:xfrm>
            <a:off x="8915400" y="240487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3154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Nônio</a:t>
            </a:r>
          </a:p>
        </p:txBody>
      </p:sp>
      <p:sp>
        <p:nvSpPr>
          <p:cNvPr id="9" name="Caixa Nônio"/>
          <p:cNvSpPr/>
          <p:nvPr/>
        </p:nvSpPr>
        <p:spPr>
          <a:xfrm>
            <a:off x="8915400" y="350215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502152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453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Leitura</a:t>
            </a:r>
          </a:p>
        </p:txBody>
      </p:sp>
      <p:sp>
        <p:nvSpPr>
          <p:cNvPr id="12" name="Caixa Leitura"/>
          <p:cNvSpPr/>
          <p:nvPr/>
        </p:nvSpPr>
        <p:spPr>
          <a:xfrm>
            <a:off x="8915400" y="4800600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80060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=</a:t>
            </a:r>
          </a:p>
        </p:txBody>
      </p:sp>
      <p:cxnSp>
        <p:nvCxnSpPr>
          <p:cNvPr id="14" name="Traço da soma"/>
          <p:cNvCxnSpPr/>
          <p:nvPr/>
        </p:nvCxnSpPr>
        <p:spPr>
          <a:xfrm>
            <a:off x="8412480" y="4325112"/>
            <a:ext cx="324612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Exercício 4: resposta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86A00"/>
                </a:solidFill>
                <a:latin typeface="Calibri"/>
              </a:rPr>
              <a:t>Tracejado: </a:t>
            </a:r>
            <a:r>
              <a:rPr sz="2400" b="0">
                <a:solidFill>
                  <a:srgbClr val="002060"/>
                </a:solidFill>
                <a:latin typeface="Calibri"/>
              </a:rPr>
              <a:t>escala fixa   </a:t>
            </a:r>
            <a:r>
              <a:rPr sz="2400" b="1">
                <a:solidFill>
                  <a:srgbClr val="C86A00"/>
                </a:solidFill>
                <a:latin typeface="Calibri"/>
              </a:rPr>
              <a:t>Linha cheia: </a:t>
            </a:r>
            <a:r>
              <a:rPr sz="2400" b="0">
                <a:solidFill>
                  <a:srgbClr val="002060"/>
                </a:solidFill>
                <a:latin typeface="Calibri"/>
              </a:rPr>
              <a:t>traço do nônio</a:t>
            </a:r>
          </a:p>
        </p:txBody>
      </p:sp>
      <p:pic>
        <p:nvPicPr>
          <p:cNvPr id="5" name="Paquímetro" descr="Exercício 4: resposta, com a escala fixa e o traço do nônio marcad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7818120" cy="2353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88219"/>
            <a:ext cx="7818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Escala fixa: .800"   ·   nônio: 19º traço = .019"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2057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Escala fixa</a:t>
            </a:r>
          </a:p>
        </p:txBody>
      </p:sp>
      <p:sp>
        <p:nvSpPr>
          <p:cNvPr id="8" name="Caixa Escala fixa"/>
          <p:cNvSpPr/>
          <p:nvPr/>
        </p:nvSpPr>
        <p:spPr>
          <a:xfrm>
            <a:off x="8915400" y="240487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2404872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002060"/>
                </a:solidFill>
                <a:latin typeface="Calibri"/>
              </a:rPr>
              <a:t>.800"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154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Nônio</a:t>
            </a:r>
          </a:p>
        </p:txBody>
      </p:sp>
      <p:sp>
        <p:nvSpPr>
          <p:cNvPr id="11" name="Caixa Nônio"/>
          <p:cNvSpPr/>
          <p:nvPr/>
        </p:nvSpPr>
        <p:spPr>
          <a:xfrm>
            <a:off x="8915400" y="350215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502152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502152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002060"/>
                </a:solidFill>
                <a:latin typeface="Calibri"/>
              </a:rPr>
              <a:t>.019"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453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Leitura</a:t>
            </a:r>
          </a:p>
        </p:txBody>
      </p:sp>
      <p:sp>
        <p:nvSpPr>
          <p:cNvPr id="15" name="Caixa Leitura"/>
          <p:cNvSpPr/>
          <p:nvPr/>
        </p:nvSpPr>
        <p:spPr>
          <a:xfrm>
            <a:off x="8915400" y="4800600"/>
            <a:ext cx="2743200" cy="658368"/>
          </a:xfrm>
          <a:prstGeom prst="rect">
            <a:avLst/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80060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4800600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FFFFFF"/>
                </a:solidFill>
                <a:latin typeface="Calibri"/>
              </a:rPr>
              <a:t>.819"</a:t>
            </a:r>
          </a:p>
        </p:txBody>
      </p:sp>
      <p:cxnSp>
        <p:nvCxnSpPr>
          <p:cNvPr id="18" name="Traço da soma"/>
          <p:cNvCxnSpPr/>
          <p:nvPr/>
        </p:nvCxnSpPr>
        <p:spPr>
          <a:xfrm>
            <a:off x="8412480" y="4325112"/>
            <a:ext cx="324612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Exercício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02060"/>
                </a:solidFill>
                <a:latin typeface="Calibri"/>
              </a:rPr>
              <a:t>Qual é a leitura? A </a:t>
            </a:r>
            <a:r>
              <a:rPr sz="2400" b="1">
                <a:solidFill>
                  <a:srgbClr val="E01E84"/>
                </a:solidFill>
                <a:latin typeface="Calibri"/>
              </a:rPr>
              <a:t>linha rosa</a:t>
            </a:r>
            <a:r>
              <a:rPr sz="2400" b="0">
                <a:solidFill>
                  <a:srgbClr val="002060"/>
                </a:solidFill>
                <a:latin typeface="Calibri"/>
              </a:rPr>
              <a:t> mostra o traço que coincide.</a:t>
            </a:r>
          </a:p>
        </p:txBody>
      </p:sp>
      <p:pic>
        <p:nvPicPr>
          <p:cNvPr id="5" name="Paquímetro" descr="Exercício 5: paquímetro milesimal com o traço coincidente marc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7818120" cy="2353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15400" y="2057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Escala fixa</a:t>
            </a:r>
          </a:p>
        </p:txBody>
      </p:sp>
      <p:sp>
        <p:nvSpPr>
          <p:cNvPr id="7" name="Caixa Escala fixa"/>
          <p:cNvSpPr/>
          <p:nvPr/>
        </p:nvSpPr>
        <p:spPr>
          <a:xfrm>
            <a:off x="8915400" y="240487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3154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Nônio</a:t>
            </a:r>
          </a:p>
        </p:txBody>
      </p:sp>
      <p:sp>
        <p:nvSpPr>
          <p:cNvPr id="9" name="Caixa Nônio"/>
          <p:cNvSpPr/>
          <p:nvPr/>
        </p:nvSpPr>
        <p:spPr>
          <a:xfrm>
            <a:off x="8915400" y="350215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502152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453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Leitura</a:t>
            </a:r>
          </a:p>
        </p:txBody>
      </p:sp>
      <p:sp>
        <p:nvSpPr>
          <p:cNvPr id="12" name="Caixa Leitura"/>
          <p:cNvSpPr/>
          <p:nvPr/>
        </p:nvSpPr>
        <p:spPr>
          <a:xfrm>
            <a:off x="8915400" y="4800600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80060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=</a:t>
            </a:r>
          </a:p>
        </p:txBody>
      </p:sp>
      <p:cxnSp>
        <p:nvCxnSpPr>
          <p:cNvPr id="14" name="Traço da soma"/>
          <p:cNvCxnSpPr/>
          <p:nvPr/>
        </p:nvCxnSpPr>
        <p:spPr>
          <a:xfrm>
            <a:off x="8412480" y="4325112"/>
            <a:ext cx="324612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Exercício 5: resposta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86A00"/>
                </a:solidFill>
                <a:latin typeface="Calibri"/>
              </a:rPr>
              <a:t>Tracejado: </a:t>
            </a:r>
            <a:r>
              <a:rPr sz="2400" b="0">
                <a:solidFill>
                  <a:srgbClr val="002060"/>
                </a:solidFill>
                <a:latin typeface="Calibri"/>
              </a:rPr>
              <a:t>escala fixa   </a:t>
            </a:r>
            <a:r>
              <a:rPr sz="2400" b="1">
                <a:solidFill>
                  <a:srgbClr val="C86A00"/>
                </a:solidFill>
                <a:latin typeface="Calibri"/>
              </a:rPr>
              <a:t>Linha cheia: </a:t>
            </a:r>
            <a:r>
              <a:rPr sz="2400" b="0">
                <a:solidFill>
                  <a:srgbClr val="002060"/>
                </a:solidFill>
                <a:latin typeface="Calibri"/>
              </a:rPr>
              <a:t>traço do nônio</a:t>
            </a:r>
          </a:p>
        </p:txBody>
      </p:sp>
      <p:pic>
        <p:nvPicPr>
          <p:cNvPr id="5" name="Paquímetro" descr="Exercício 5: resposta, com a escala fixa e o traço do nônio marcad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7818120" cy="2353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88219"/>
            <a:ext cx="7818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Escala fixa: 2" + .100" + 2 × .025" = 2.150"   ·   nônio: o zero coincide = .000"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2057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Escala fixa</a:t>
            </a:r>
          </a:p>
        </p:txBody>
      </p:sp>
      <p:sp>
        <p:nvSpPr>
          <p:cNvPr id="8" name="Caixa Escala fixa"/>
          <p:cNvSpPr/>
          <p:nvPr/>
        </p:nvSpPr>
        <p:spPr>
          <a:xfrm>
            <a:off x="8915400" y="240487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2404872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002060"/>
                </a:solidFill>
                <a:latin typeface="Calibri"/>
              </a:rPr>
              <a:t>2.150"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154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Nônio</a:t>
            </a:r>
          </a:p>
        </p:txBody>
      </p:sp>
      <p:sp>
        <p:nvSpPr>
          <p:cNvPr id="11" name="Caixa Nônio"/>
          <p:cNvSpPr/>
          <p:nvPr/>
        </p:nvSpPr>
        <p:spPr>
          <a:xfrm>
            <a:off x="8915400" y="350215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502152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502152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002060"/>
                </a:solidFill>
                <a:latin typeface="Calibri"/>
              </a:rPr>
              <a:t>.000"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453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Leitura</a:t>
            </a:r>
          </a:p>
        </p:txBody>
      </p:sp>
      <p:sp>
        <p:nvSpPr>
          <p:cNvPr id="15" name="Caixa Leitura"/>
          <p:cNvSpPr/>
          <p:nvPr/>
        </p:nvSpPr>
        <p:spPr>
          <a:xfrm>
            <a:off x="8915400" y="4800600"/>
            <a:ext cx="2743200" cy="658368"/>
          </a:xfrm>
          <a:prstGeom prst="rect">
            <a:avLst/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80060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4800600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FFFFFF"/>
                </a:solidFill>
                <a:latin typeface="Calibri"/>
              </a:rPr>
              <a:t>2.150"</a:t>
            </a:r>
          </a:p>
        </p:txBody>
      </p:sp>
      <p:cxnSp>
        <p:nvCxnSpPr>
          <p:cNvPr id="18" name="Traço da soma"/>
          <p:cNvCxnSpPr/>
          <p:nvPr/>
        </p:nvCxnSpPr>
        <p:spPr>
          <a:xfrm>
            <a:off x="8412480" y="4325112"/>
            <a:ext cx="324612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Exercício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02060"/>
                </a:solidFill>
                <a:latin typeface="Calibri"/>
              </a:rPr>
              <a:t>Qual é a leitura? A </a:t>
            </a:r>
            <a:r>
              <a:rPr sz="2400" b="1">
                <a:solidFill>
                  <a:srgbClr val="E01E84"/>
                </a:solidFill>
                <a:latin typeface="Calibri"/>
              </a:rPr>
              <a:t>linha rosa</a:t>
            </a:r>
            <a:r>
              <a:rPr sz="2400" b="0">
                <a:solidFill>
                  <a:srgbClr val="002060"/>
                </a:solidFill>
                <a:latin typeface="Calibri"/>
              </a:rPr>
              <a:t> mostra o traço que coincide.</a:t>
            </a:r>
          </a:p>
        </p:txBody>
      </p:sp>
      <p:pic>
        <p:nvPicPr>
          <p:cNvPr id="5" name="Paquímetro" descr="Exercício 6: paquímetro milesimal com o traço coincidente marc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7818120" cy="2353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15400" y="2057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Escala fixa</a:t>
            </a:r>
          </a:p>
        </p:txBody>
      </p:sp>
      <p:sp>
        <p:nvSpPr>
          <p:cNvPr id="7" name="Caixa Escala fixa"/>
          <p:cNvSpPr/>
          <p:nvPr/>
        </p:nvSpPr>
        <p:spPr>
          <a:xfrm>
            <a:off x="8915400" y="240487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3154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Nônio</a:t>
            </a:r>
          </a:p>
        </p:txBody>
      </p:sp>
      <p:sp>
        <p:nvSpPr>
          <p:cNvPr id="9" name="Caixa Nônio"/>
          <p:cNvSpPr/>
          <p:nvPr/>
        </p:nvSpPr>
        <p:spPr>
          <a:xfrm>
            <a:off x="8915400" y="350215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502152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453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Leitura</a:t>
            </a:r>
          </a:p>
        </p:txBody>
      </p:sp>
      <p:sp>
        <p:nvSpPr>
          <p:cNvPr id="12" name="Caixa Leitura"/>
          <p:cNvSpPr/>
          <p:nvPr/>
        </p:nvSpPr>
        <p:spPr>
          <a:xfrm>
            <a:off x="8915400" y="4800600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80060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=</a:t>
            </a:r>
          </a:p>
        </p:txBody>
      </p:sp>
      <p:cxnSp>
        <p:nvCxnSpPr>
          <p:cNvPr id="14" name="Traço da soma"/>
          <p:cNvCxnSpPr/>
          <p:nvPr/>
        </p:nvCxnSpPr>
        <p:spPr>
          <a:xfrm>
            <a:off x="8412480" y="4325112"/>
            <a:ext cx="324612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Exercício 6: resposta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86A00"/>
                </a:solidFill>
                <a:latin typeface="Calibri"/>
              </a:rPr>
              <a:t>Tracejado: </a:t>
            </a:r>
            <a:r>
              <a:rPr sz="2400" b="0">
                <a:solidFill>
                  <a:srgbClr val="002060"/>
                </a:solidFill>
                <a:latin typeface="Calibri"/>
              </a:rPr>
              <a:t>escala fixa   </a:t>
            </a:r>
            <a:r>
              <a:rPr sz="2400" b="1">
                <a:solidFill>
                  <a:srgbClr val="C86A00"/>
                </a:solidFill>
                <a:latin typeface="Calibri"/>
              </a:rPr>
              <a:t>Linha cheia: </a:t>
            </a:r>
            <a:r>
              <a:rPr sz="2400" b="0">
                <a:solidFill>
                  <a:srgbClr val="002060"/>
                </a:solidFill>
                <a:latin typeface="Calibri"/>
              </a:rPr>
              <a:t>traço do nônio</a:t>
            </a:r>
          </a:p>
        </p:txBody>
      </p:sp>
      <p:pic>
        <p:nvPicPr>
          <p:cNvPr id="5" name="Paquímetro" descr="Exercício 6: resposta, com a escala fixa e o traço do nônio marcad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7818120" cy="2353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88219"/>
            <a:ext cx="7818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Escala fixa: 1" + .400" + 2 × .025" = 1.450"   ·   nônio: 15º traço = .015"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2057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Escala fixa</a:t>
            </a:r>
          </a:p>
        </p:txBody>
      </p:sp>
      <p:sp>
        <p:nvSpPr>
          <p:cNvPr id="8" name="Caixa Escala fixa"/>
          <p:cNvSpPr/>
          <p:nvPr/>
        </p:nvSpPr>
        <p:spPr>
          <a:xfrm>
            <a:off x="8915400" y="240487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2404872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002060"/>
                </a:solidFill>
                <a:latin typeface="Calibri"/>
              </a:rPr>
              <a:t>1.450"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154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Nônio</a:t>
            </a:r>
          </a:p>
        </p:txBody>
      </p:sp>
      <p:sp>
        <p:nvSpPr>
          <p:cNvPr id="11" name="Caixa Nônio"/>
          <p:cNvSpPr/>
          <p:nvPr/>
        </p:nvSpPr>
        <p:spPr>
          <a:xfrm>
            <a:off x="8915400" y="350215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502152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502152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002060"/>
                </a:solidFill>
                <a:latin typeface="Calibri"/>
              </a:rPr>
              <a:t>.015"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453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Leitura</a:t>
            </a:r>
          </a:p>
        </p:txBody>
      </p:sp>
      <p:sp>
        <p:nvSpPr>
          <p:cNvPr id="15" name="Caixa Leitura"/>
          <p:cNvSpPr/>
          <p:nvPr/>
        </p:nvSpPr>
        <p:spPr>
          <a:xfrm>
            <a:off x="8915400" y="4800600"/>
            <a:ext cx="2743200" cy="658368"/>
          </a:xfrm>
          <a:prstGeom prst="rect">
            <a:avLst/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80060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600" b="1">
                <a:solidFill>
                  <a:srgbClr val="4A5568"/>
                </a:solidFill>
                <a:latin typeface="Calibri"/>
              </a:rPr>
              <a:t>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4800600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" b="1">
                <a:solidFill>
                  <a:srgbClr val="FFFFFF"/>
                </a:solidFill>
                <a:latin typeface="Calibri"/>
              </a:rPr>
              <a:t>1.465"</a:t>
            </a:r>
          </a:p>
        </p:txBody>
      </p:sp>
      <p:cxnSp>
        <p:nvCxnSpPr>
          <p:cNvPr id="18" name="Traço da soma"/>
          <p:cNvCxnSpPr/>
          <p:nvPr/>
        </p:nvCxnSpPr>
        <p:spPr>
          <a:xfrm>
            <a:off x="8412480" y="4325112"/>
            <a:ext cx="324612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Gabarito dos exercícios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11680"/>
          <a:ext cx="11109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3246120"/>
                <a:gridCol w="28346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Exercício</a:t>
                      </a:r>
                    </a:p>
                  </a:txBody>
                  <a:tcPr anchor="ctr">
                    <a:solidFill>
                      <a:srgbClr val="312B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Escala fixa</a:t>
                      </a:r>
                    </a:p>
                  </a:txBody>
                  <a:tcPr anchor="ctr">
                    <a:solidFill>
                      <a:srgbClr val="312B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Nônio</a:t>
                      </a:r>
                    </a:p>
                  </a:txBody>
                  <a:tcPr anchor="ctr">
                    <a:solidFill>
                      <a:srgbClr val="312B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anchor="ctr">
                    <a:solidFill>
                      <a:srgbClr val="312B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.325"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22º traço  .022"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C00000"/>
                          </a:solidFill>
                          <a:latin typeface="Calibri"/>
                        </a:rPr>
                        <a:t>.347"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1.225"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13º traço  .013"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C00000"/>
                          </a:solidFill>
                          <a:latin typeface="Calibri"/>
                        </a:rPr>
                        <a:t>1.238"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2.500"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6º traço  .006"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C00000"/>
                          </a:solidFill>
                          <a:latin typeface="Calibri"/>
                        </a:rPr>
                        <a:t>2.506"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.800"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19º traço  .019"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C00000"/>
                          </a:solidFill>
                          <a:latin typeface="Calibri"/>
                        </a:rPr>
                        <a:t>.819"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2.150"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zero coincide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C00000"/>
                          </a:solidFill>
                          <a:latin typeface="Calibri"/>
                        </a:rPr>
                        <a:t>2.150"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1.450"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2060"/>
                          </a:solidFill>
                          <a:latin typeface="Calibri"/>
                        </a:rPr>
                        <a:t>15º traço  .015"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C00000"/>
                          </a:solidFill>
                          <a:latin typeface="Calibri"/>
                        </a:rPr>
                        <a:t>1.465"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Agora pratique no simulador</a:t>
            </a:r>
          </a:p>
        </p:txBody>
      </p:sp>
      <p:sp>
        <p:nvSpPr>
          <p:cNvPr id="4" name="Explorar"/>
          <p:cNvSpPr/>
          <p:nvPr/>
        </p:nvSpPr>
        <p:spPr>
          <a:xfrm>
            <a:off x="548640" y="201168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Explorar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Mova o cursor e veja a leitura explicada</a:t>
            </a:r>
          </a:p>
        </p:txBody>
      </p:sp>
      <p:sp>
        <p:nvSpPr>
          <p:cNvPr id="7" name="Básico"/>
          <p:cNvSpPr/>
          <p:nvPr/>
        </p:nvSpPr>
        <p:spPr>
          <a:xfrm>
            <a:off x="3364992" y="201168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22402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Básico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971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Até 1", com a linha rosa de ajuda</a:t>
            </a:r>
          </a:p>
        </p:txBody>
      </p:sp>
      <p:sp>
        <p:nvSpPr>
          <p:cNvPr id="10" name="Médio"/>
          <p:cNvSpPr/>
          <p:nvPr/>
        </p:nvSpPr>
        <p:spPr>
          <a:xfrm>
            <a:off x="6181344" y="201168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2402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971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Até 4", sem ajuda; dica custa pontos</a:t>
            </a:r>
          </a:p>
        </p:txBody>
      </p:sp>
      <p:sp>
        <p:nvSpPr>
          <p:cNvPr id="13" name="Avançado"/>
          <p:cNvSpPr/>
          <p:nvPr/>
        </p:nvSpPr>
        <p:spPr>
          <a:xfrm>
            <a:off x="8997696" y="201168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26296" y="22402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Avançado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6296" y="2971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Abrir na medida e converter para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1109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C00000"/>
                </a:solidFill>
                <a:latin typeface="Calibri"/>
              </a:rPr>
              <a:t>martinsrl1-web.github.io/fazenda-de-projetos</a:t>
            </a:r>
          </a:p>
          <a:p>
            <a:pPr algn="ctr"/>
            <a:r>
              <a:rPr sz="2800" b="0">
                <a:solidFill>
                  <a:srgbClr val="002060"/>
                </a:solidFill>
                <a:latin typeface="Calibri"/>
              </a:rPr>
              <a:t>Metrologia › Paquímetro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2020-02-04T02:22:18Z</dcterms:created>
  <dc:creator>Martins</dc:creator>
</cp:coreProperties>
</file>