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6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6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400" r:id="rId6"/>
    <p:sldId id="401" r:id="rId45"/>
    <p:sldId id="402" r:id="rId46"/>
    <p:sldId id="403" r:id="rId47"/>
    <p:sldId id="404" r:id="rId48"/>
    <p:sldId id="405" r:id="rId49"/>
    <p:sldId id="406" r:id="rId51"/>
    <p:sldId id="407" r:id="rId52"/>
    <p:sldId id="408" r:id="rId970"/>
    <p:sldId id="409" r:id="rId971"/>
    <p:sldId id="410" r:id="rId972"/>
    <p:sldId id="411" r:id="rId973"/>
    <p:sldId id="412" r:id="rId974"/>
    <p:sldId id="413" r:id="rId6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3" roundtripDataSignature="AMtx7mhLuLgOGQqwwqQPiKG+lum6sDzc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7B06C4-83CB-4E7F-B6FB-822D88C5FC76}">
  <a:tblStyle styleId="{437B06C4-83CB-4E7F-B6FB-822D88C5FC7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C9C9C9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C9C9C9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C9C9C9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C9C9C9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  <a:tcStyle>
        <a:fill>
          <a:solidFill>
            <a:srgbClr val="EDEDED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DEDED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9525">
              <a:solidFill>
                <a:srgbClr val="C9C9C9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/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9050">
              <a:solidFill>
                <a:srgbClr val="C9C9C9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43" Type="http://customschemas.google.com/relationships/presentationmetadata" Target="metadata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68" Type="http://schemas.openxmlformats.org/officeDocument/2006/relationships/slide" Target="slides/slide62.xml"/><Relationship Id="rId970" Type="http://schemas.openxmlformats.org/officeDocument/2006/relationships/slide" Target="slides/slide70.xml"/><Relationship Id="rId971" Type="http://schemas.openxmlformats.org/officeDocument/2006/relationships/slide" Target="slides/slide71.xml"/><Relationship Id="rId972" Type="http://schemas.openxmlformats.org/officeDocument/2006/relationships/slide" Target="slides/slide72.xml"/><Relationship Id="rId973" Type="http://schemas.openxmlformats.org/officeDocument/2006/relationships/slide" Target="slides/slide73.xml"/><Relationship Id="rId974" Type="http://schemas.openxmlformats.org/officeDocument/2006/relationships/slide" Target="slides/slide7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Abertura. Pergunte à turma se já viram chave, parafuso ou cano marcados em polegada. Hoje vamos ler o paquímetro em polegada milesimal, com resolução de um milésimo de polegada (.001").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polegada milesimal (ou decimal) divide a polegada em 10, 100, 1000 partes. No sistema inglês o ponto separa os decimais e o zero antes do ponto costuma ser omitido: .725" = 0,725 polegada = 725 milésimos. Mostre que 1/2" e .500" são a mesma medida.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é a escala de polegada do paquímetro, fechado: o zero do nônio coincide com o zero da escala fixa. Na escala fixa cada polegada é dividida em 40 partes de .025". O nônio tem 25 divisões. Normalmente a escala em polegada fica na parte de baixo do paquímetro e a de milímetro em cima.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Entre dois números pequenos há 4 tracinhos de .025": .025, .050, .075 e .100. Na escala fixa, conte: polegada inteira + décimos (números pequenos) + quantos tracinhos de .025 passaram até o zero do nônio. A conta é só com números decimais, sem frações.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É a mesma fórmula do paquímetro em milímetro (1 mm ÷ 20 = 0,05 mm). UEF = unidade da escala fixa; NDN = número de divisões do nônio. Atenção: algumas apostilas trazem ".25" e "0,01" por engano; o certo é .025" por divisão e .001" de resolução.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Procedimento do Telecurso: o mesmo do milímetro. Conte as unidades de .025" à esquerda do zero do nônio e some os milésimos indicados pelo traço do nônio que coincide com um traço da escala fixa.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Exemplo do Telecurso. A polegada 1 ficou à esquerda, fora da imagem (a etiqueta no canto mostra). O zero do nônio passou o 7 pequeno (1.700) e ainda não chegou ao primeiro tracinho depois dele. O 21º traço do nônio coincide: .021. Total 1.721".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Caminho inverso: dada a medida, posicionar o cursor. Separe as polegadas inteiras. Divida os milésimos por 25 (porque cada tracinho vale 25 milésimos): o quociente diz quantos tracinhos passam na escala fixa e o resto diz qual traço do nônio deve coincidir. 238 ÷ 25 = 9 resto 13: 9 tracinhos = .225" (2 números pequenos e mais 1 tracinho). O nível Avançado do simulador treina isso.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Sugestão: 10 minutos no Explorar com as guias ligadas; depois o Básico. Médio e Avançado podem ficar como tarefa. No fim, cada aluno usa o botão Copiar resultado e envia a pontuação.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0.xml"/><Relationship Id="rId4" Type="http://schemas.openxmlformats.org/officeDocument/2006/relationships/image" Target="../media/image2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5.xml"/><Relationship Id="rId4" Type="http://schemas.openxmlformats.org/officeDocument/2006/relationships/image" Target="../media/image3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6.xml"/><Relationship Id="rId4" Type="http://schemas.openxmlformats.org/officeDocument/2006/relationships/image" Target="../media/image3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13"/>
            <a:ext cx="12192000" cy="685457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>
            <p:ph type="ctrTitle"/>
          </p:nvPr>
        </p:nvSpPr>
        <p:spPr>
          <a:xfrm>
            <a:off x="6539350" y="1886650"/>
            <a:ext cx="5652900" cy="40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pt-BR" sz="5300">
                <a:solidFill>
                  <a:schemeClr val="lt1"/>
                </a:solidFill>
              </a:rPr>
              <a:t>Revisão: Polegada Milesimal e Tolerância</a:t>
            </a:r>
            <a:endParaRPr b="1" sz="5300"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6665842" y="6037110"/>
            <a:ext cx="50226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3600">
                <a:solidFill>
                  <a:schemeClr val="lt1"/>
                </a:solidFill>
              </a:rPr>
              <a:t>Prof° Rodrigo Martins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87" name="Google Shape;87;p1"/>
          <p:cNvSpPr txBox="1"/>
          <p:nvPr>
            <p:ph type="ctrTitle"/>
          </p:nvPr>
        </p:nvSpPr>
        <p:spPr>
          <a:xfrm>
            <a:off x="6791900" y="634650"/>
            <a:ext cx="5271600" cy="9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pt-BR" sz="5500">
                <a:solidFill>
                  <a:schemeClr val="lt1"/>
                </a:solidFill>
              </a:rPr>
              <a:t>Metrologia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Polegada milesimal: escrita com ponto</a:t>
            </a:r>
          </a:p>
        </p:txBody>
      </p:sp>
      <p:sp>
        <p:nvSpPr>
          <p:cNvPr id="4" name="Exemplo"/>
          <p:cNvSpPr/>
          <p:nvPr/>
        </p:nvSpPr>
        <p:spPr>
          <a:xfrm>
            <a:off x="548640" y="2011680"/>
            <a:ext cx="4572000" cy="39319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4A5568"/>
                </a:solidFill>
                <a:latin typeface="Calibri"/>
              </a:rPr>
              <a:t>No sistema inglês o ponto separa os decimais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54680"/>
            <a:ext cx="3931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>
                <a:solidFill>
                  <a:srgbClr val="C00000"/>
                </a:solidFill>
                <a:latin typeface="Calibri"/>
              </a:rPr>
              <a:t>.725"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52628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060"/>
                </a:solidFill>
                <a:latin typeface="Calibri"/>
              </a:rPr>
              <a:t>lê-se: 725 milésimos de polegada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0" y="2011680"/>
          <a:ext cx="6172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Calibri"/>
                        </a:rPr>
                        <a:t>Fração</a:t>
                      </a:r>
                    </a:p>
                  </a:txBody>
                  <a:tcPr anchor="ctr">
                    <a:solidFill>
                      <a:srgbClr val="312B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Calibri"/>
                        </a:rPr>
                        <a:t>Milesimal</a:t>
                      </a:r>
                    </a:p>
                  </a:txBody>
                  <a:tcPr anchor="ctr">
                    <a:solidFill>
                      <a:srgbClr val="312B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Calibri"/>
                        </a:rPr>
                        <a:t>Milímetro</a:t>
                      </a:r>
                    </a:p>
                  </a:txBody>
                  <a:tcPr anchor="ctr">
                    <a:solidFill>
                      <a:srgbClr val="312B5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002060"/>
                          </a:solidFill>
                          <a:latin typeface="Calibri"/>
                        </a:rPr>
                        <a:t>1/2"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C00000"/>
                          </a:solidFill>
                          <a:latin typeface="Calibri"/>
                        </a:rPr>
                        <a:t>.500"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002060"/>
                          </a:solidFill>
                          <a:latin typeface="Calibri"/>
                        </a:rPr>
                        <a:t>12,7 mm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002060"/>
                          </a:solidFill>
                          <a:latin typeface="Calibri"/>
                        </a:rPr>
                        <a:t>1/4"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C00000"/>
                          </a:solidFill>
                          <a:latin typeface="Calibri"/>
                        </a:rPr>
                        <a:t>.250"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002060"/>
                          </a:solidFill>
                          <a:latin typeface="Calibri"/>
                        </a:rPr>
                        <a:t>6,35 mm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002060"/>
                          </a:solidFill>
                          <a:latin typeface="Calibri"/>
                        </a:rPr>
                        <a:t>1/8"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C00000"/>
                          </a:solidFill>
                          <a:latin typeface="Calibri"/>
                        </a:rPr>
                        <a:t>.125"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002060"/>
                          </a:solidFill>
                          <a:latin typeface="Calibri"/>
                        </a:rPr>
                        <a:t>3,175 mm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00206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C00000"/>
                          </a:solidFill>
                          <a:latin typeface="Calibri"/>
                        </a:rPr>
                        <a:t>.001"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002060"/>
                          </a:solidFill>
                          <a:latin typeface="Calibri"/>
                        </a:rPr>
                        <a:t>0,0254 mm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O paquímetro em polegada milesimal</a:t>
            </a:r>
          </a:p>
        </p:txBody>
      </p:sp>
      <p:pic>
        <p:nvPicPr>
          <p:cNvPr id="4" name="Paquímetro" descr="Paquímetro milesimal fechado: zero do nônio coincide com o zero da escala fix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965960"/>
            <a:ext cx="11064240" cy="33307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33917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Calibri"/>
              </a:rPr>
              <a:t>Escala fixa: </a:t>
            </a:r>
            <a:r>
              <a:rPr sz="2400" b="0">
                <a:solidFill>
                  <a:srgbClr val="002060"/>
                </a:solidFill>
                <a:latin typeface="Calibri"/>
              </a:rPr>
              <a:t>cada tracinho vale .025"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5433917"/>
            <a:ext cx="5394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Calibri"/>
              </a:rPr>
              <a:t>Nônio: </a:t>
            </a:r>
            <a:r>
              <a:rPr sz="2400" b="0">
                <a:solidFill>
                  <a:srgbClr val="002060"/>
                </a:solidFill>
                <a:latin typeface="Calibri"/>
              </a:rPr>
              <a:t>25 divisões, cada traço vale .001"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Como ler a escala fixa</a:t>
            </a:r>
          </a:p>
        </p:txBody>
      </p:sp>
      <p:sp>
        <p:nvSpPr>
          <p:cNvPr id="4" name="Números grandes: polegadas inteiras"/>
          <p:cNvSpPr/>
          <p:nvPr/>
        </p:nvSpPr>
        <p:spPr>
          <a:xfrm>
            <a:off x="548640" y="2011680"/>
            <a:ext cx="3566160" cy="2331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2860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C00000"/>
                </a:solidFill>
                <a:latin typeface="Calibri"/>
              </a:rPr>
              <a:t>1  2  3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29184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002060"/>
                </a:solidFill>
                <a:latin typeface="Calibri"/>
              </a:rPr>
              <a:t>Números grandes: polegadas inteiras</a:t>
            </a:r>
          </a:p>
        </p:txBody>
      </p:sp>
      <p:sp>
        <p:nvSpPr>
          <p:cNvPr id="7" name="Números pequenos: .100&quot; a .900&quot;"/>
          <p:cNvSpPr/>
          <p:nvPr/>
        </p:nvSpPr>
        <p:spPr>
          <a:xfrm>
            <a:off x="4315968" y="2011680"/>
            <a:ext cx="3566160" cy="2331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22860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C00000"/>
                </a:solidFill>
                <a:latin typeface="Calibri"/>
              </a:rPr>
              <a:t>1 a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329184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002060"/>
                </a:solidFill>
                <a:latin typeface="Calibri"/>
              </a:rPr>
              <a:t>Números pequenos: .100" a .900"</a:t>
            </a:r>
          </a:p>
        </p:txBody>
      </p:sp>
      <p:sp>
        <p:nvSpPr>
          <p:cNvPr id="10" name="Cada tracinho: 4 entre dois números pequenos"/>
          <p:cNvSpPr/>
          <p:nvPr/>
        </p:nvSpPr>
        <p:spPr>
          <a:xfrm>
            <a:off x="8083296" y="2011680"/>
            <a:ext cx="3566160" cy="2331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7616" y="22860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C00000"/>
                </a:solidFill>
                <a:latin typeface="Calibri"/>
              </a:rPr>
              <a:t>.025"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329184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002060"/>
                </a:solidFill>
                <a:latin typeface="Calibri"/>
              </a:rPr>
              <a:t>Cada tracinho: 4 entre dois números pequenos</a:t>
            </a:r>
          </a:p>
        </p:txBody>
      </p:sp>
      <p:sp>
        <p:nvSpPr>
          <p:cNvPr id="13" name="Exemplo"/>
          <p:cNvSpPr/>
          <p:nvPr/>
        </p:nvSpPr>
        <p:spPr>
          <a:xfrm>
            <a:off x="548640" y="4572000"/>
            <a:ext cx="11109960" cy="1325880"/>
          </a:xfrm>
          <a:prstGeom prst="roundRect">
            <a:avLst>
              <a:gd name="adj" fmla="val 8000"/>
            </a:avLst>
          </a:prstGeom>
          <a:solidFill>
            <a:srgbClr val="31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709160"/>
            <a:ext cx="10515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Exemplo: </a:t>
            </a:r>
            <a:r>
              <a:rPr sz="2600" b="0">
                <a:solidFill>
                  <a:srgbClr val="D9DEEA"/>
                </a:solidFill>
                <a:latin typeface="Calibri"/>
              </a:rPr>
              <a:t>passou o 1 grande, o 7 pequeno e 1 tracinho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1" + .700" + .025" = 1.725"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Resolução: a menor medida do paquímetro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109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02060"/>
                </a:solidFill>
                <a:latin typeface="Calibri"/>
              </a:rPr>
              <a:t>Resolução = UEF ÷ NDN</a:t>
            </a:r>
          </a:p>
        </p:txBody>
      </p:sp>
      <p:sp>
        <p:nvSpPr>
          <p:cNvPr id="5" name="UEF"/>
          <p:cNvSpPr/>
          <p:nvPr/>
        </p:nvSpPr>
        <p:spPr>
          <a:xfrm>
            <a:off x="548640" y="297180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4A5568"/>
                </a:solidFill>
                <a:latin typeface="Calibri"/>
              </a:rPr>
              <a:t>UEF (escala fixa)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2060"/>
                </a:solidFill>
                <a:latin typeface="Calibri"/>
              </a:rPr>
              <a:t>1" ÷ 40 = .025"</a:t>
            </a:r>
          </a:p>
        </p:txBody>
      </p:sp>
      <p:sp>
        <p:nvSpPr>
          <p:cNvPr id="8" name="NDN"/>
          <p:cNvSpPr/>
          <p:nvPr/>
        </p:nvSpPr>
        <p:spPr>
          <a:xfrm>
            <a:off x="4315968" y="297180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31089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4A5568"/>
                </a:solidFill>
                <a:latin typeface="Calibri"/>
              </a:rPr>
              <a:t>NDN (nônio)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361188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2060"/>
                </a:solidFill>
                <a:latin typeface="Calibri"/>
              </a:rPr>
              <a:t>25 divisões</a:t>
            </a:r>
          </a:p>
        </p:txBody>
      </p:sp>
      <p:sp>
        <p:nvSpPr>
          <p:cNvPr id="11" name="Resultado"/>
          <p:cNvSpPr/>
          <p:nvPr/>
        </p:nvSpPr>
        <p:spPr>
          <a:xfrm>
            <a:off x="8092440" y="297180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31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31089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D9DEEA"/>
                </a:solidFill>
                <a:latin typeface="Calibri"/>
              </a:rPr>
              <a:t>Resolução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61188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.025 ÷ 25 = .001"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11109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0">
                <a:solidFill>
                  <a:srgbClr val="002060"/>
                </a:solidFill>
                <a:latin typeface="Calibri"/>
              </a:rPr>
              <a:t>Cada traço do nônio vale um milésimo de polegada (.001" = 0,0254 mm).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Leitura em três passos</a:t>
            </a:r>
          </a:p>
        </p:txBody>
      </p:sp>
      <p:sp>
        <p:nvSpPr>
          <p:cNvPr id="4" name="Leia a escala fixa"/>
          <p:cNvSpPr/>
          <p:nvPr/>
        </p:nvSpPr>
        <p:spPr>
          <a:xfrm>
            <a:off x="548640" y="2011680"/>
            <a:ext cx="11109960" cy="1188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sso 1"/>
          <p:cNvSpPr/>
          <p:nvPr/>
        </p:nvSpPr>
        <p:spPr>
          <a:xfrm>
            <a:off x="777240" y="2194560"/>
            <a:ext cx="822960" cy="8229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139696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2060"/>
                </a:solidFill>
                <a:latin typeface="Calibri"/>
              </a:rPr>
              <a:t>Leia a escala fixa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651760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4A5568"/>
                </a:solidFill>
                <a:latin typeface="Calibri"/>
              </a:rPr>
              <a:t>Até o zero do nônio: polegadas + números pequenos + tracinhos de .025".</a:t>
            </a:r>
          </a:p>
        </p:txBody>
      </p:sp>
      <p:sp>
        <p:nvSpPr>
          <p:cNvPr id="9" name="Ache o traço que coincide"/>
          <p:cNvSpPr/>
          <p:nvPr/>
        </p:nvSpPr>
        <p:spPr>
          <a:xfrm>
            <a:off x="548640" y="3364992"/>
            <a:ext cx="11109960" cy="1188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sso 2"/>
          <p:cNvSpPr/>
          <p:nvPr/>
        </p:nvSpPr>
        <p:spPr>
          <a:xfrm>
            <a:off x="777240" y="3547872"/>
            <a:ext cx="822960" cy="8229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547872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9300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2060"/>
                </a:solidFill>
                <a:latin typeface="Calibri"/>
              </a:rPr>
              <a:t>Ache o traço que coincide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005072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4A5568"/>
                </a:solidFill>
                <a:latin typeface="Calibri"/>
              </a:rPr>
              <a:t>O traço do nônio alinhado com um traço da escala fixa. Cada um vale .001".</a:t>
            </a:r>
          </a:p>
        </p:txBody>
      </p:sp>
      <p:sp>
        <p:nvSpPr>
          <p:cNvPr id="14" name="Some as duas leituras"/>
          <p:cNvSpPr/>
          <p:nvPr/>
        </p:nvSpPr>
        <p:spPr>
          <a:xfrm>
            <a:off x="548640" y="4718304"/>
            <a:ext cx="11109960" cy="1188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sso 3"/>
          <p:cNvSpPr/>
          <p:nvPr/>
        </p:nvSpPr>
        <p:spPr>
          <a:xfrm>
            <a:off x="777240" y="4901184"/>
            <a:ext cx="822960" cy="8229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901184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846320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2060"/>
                </a:solidFill>
                <a:latin typeface="Calibri"/>
              </a:rPr>
              <a:t>Some as duas leituras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5358384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4A5568"/>
                </a:solidFill>
                <a:latin typeface="Calibri"/>
              </a:rPr>
              <a:t>Escala fixa + nônio = leitura.  Ex.: 1.700" + .021" = 1.721".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Exemplo 2: 1.721"</a:t>
            </a:r>
          </a:p>
        </p:txBody>
      </p:sp>
      <p:pic>
        <p:nvPicPr>
          <p:cNvPr id="4" name="Paquímetro" descr="Paquímetro milesimal: escala fixa em 1.700 e 21º traço do nônio coincidind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965960"/>
            <a:ext cx="11064240" cy="3330797"/>
          </a:xfrm>
          <a:prstGeom prst="rect">
            <a:avLst/>
          </a:prstGeom>
        </p:spPr>
      </p:pic>
      <p:sp>
        <p:nvSpPr>
          <p:cNvPr id="5" name="Escala fixa"/>
          <p:cNvSpPr/>
          <p:nvPr/>
        </p:nvSpPr>
        <p:spPr>
          <a:xfrm>
            <a:off x="603503" y="5406485"/>
            <a:ext cx="3593591" cy="7315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5406485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Calibri"/>
              </a:rPr>
              <a:t>Escala fixa  </a:t>
            </a:r>
            <a:r>
              <a:rPr sz="3000" b="1">
                <a:solidFill>
                  <a:srgbClr val="002060"/>
                </a:solidFill>
                <a:latin typeface="Calibri"/>
              </a:rPr>
              <a:t>1.700"</a:t>
            </a:r>
          </a:p>
        </p:txBody>
      </p:sp>
      <p:sp>
        <p:nvSpPr>
          <p:cNvPr id="7" name="Nônio, 21º traço"/>
          <p:cNvSpPr/>
          <p:nvPr/>
        </p:nvSpPr>
        <p:spPr>
          <a:xfrm>
            <a:off x="4306823" y="5406485"/>
            <a:ext cx="3593591" cy="7315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79" y="5406485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Calibri"/>
              </a:rPr>
              <a:t>Nônio, 21º traço  </a:t>
            </a:r>
            <a:r>
              <a:rPr sz="3000" b="1">
                <a:solidFill>
                  <a:srgbClr val="002060"/>
                </a:solidFill>
                <a:latin typeface="Calibri"/>
              </a:rPr>
              <a:t>+ .021"</a:t>
            </a:r>
          </a:p>
        </p:txBody>
      </p:sp>
      <p:sp>
        <p:nvSpPr>
          <p:cNvPr id="9" name="Leitura"/>
          <p:cNvSpPr/>
          <p:nvPr/>
        </p:nvSpPr>
        <p:spPr>
          <a:xfrm>
            <a:off x="8010144" y="5406485"/>
            <a:ext cx="3593591" cy="731520"/>
          </a:xfrm>
          <a:prstGeom prst="roundRect">
            <a:avLst>
              <a:gd name="adj" fmla="val 8000"/>
            </a:avLst>
          </a:prstGeom>
          <a:solidFill>
            <a:srgbClr val="31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5406485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D9DEEA"/>
                </a:solidFill>
                <a:latin typeface="Calibri"/>
              </a:rPr>
              <a:t>Leitura  </a:t>
            </a:r>
            <a:r>
              <a:rPr sz="3000" b="1">
                <a:solidFill>
                  <a:srgbClr val="FFFFFF"/>
                </a:solidFill>
                <a:latin typeface="Calibri"/>
              </a:rPr>
              <a:t>= 1.721"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Abrir o paquímetro em 1.238"</a:t>
            </a:r>
          </a:p>
        </p:txBody>
      </p:sp>
      <p:sp>
        <p:nvSpPr>
          <p:cNvPr id="4" name="1. Separe as polegadas"/>
          <p:cNvSpPr/>
          <p:nvPr/>
        </p:nvSpPr>
        <p:spPr>
          <a:xfrm>
            <a:off x="548640" y="201168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Calibri"/>
              </a:rPr>
              <a:t>1. Separe as polegadas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5059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060"/>
                </a:solidFill>
                <a:latin typeface="Calibri"/>
              </a:rPr>
              <a:t>1.238 → 1" + .238"</a:t>
            </a:r>
          </a:p>
        </p:txBody>
      </p:sp>
      <p:sp>
        <p:nvSpPr>
          <p:cNvPr id="7" name="2. Milésimos ÷ 25"/>
          <p:cNvSpPr/>
          <p:nvPr/>
        </p:nvSpPr>
        <p:spPr>
          <a:xfrm>
            <a:off x="4315968" y="201168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21031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Calibri"/>
              </a:rPr>
              <a:t>2. Milésimos ÷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245059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060"/>
                </a:solidFill>
                <a:latin typeface="Calibri"/>
              </a:rPr>
              <a:t>238 ÷ 25 = 9, resto 13</a:t>
            </a:r>
          </a:p>
        </p:txBody>
      </p:sp>
      <p:sp>
        <p:nvSpPr>
          <p:cNvPr id="10" name="3. Posicione"/>
          <p:cNvSpPr/>
          <p:nvPr/>
        </p:nvSpPr>
        <p:spPr>
          <a:xfrm>
            <a:off x="8083296" y="201168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31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21031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D9DEEA"/>
                </a:solidFill>
                <a:latin typeface="Calibri"/>
              </a:rPr>
              <a:t>3. Posicione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1896" y="245059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9 tracinhos + 13º traço</a:t>
            </a:r>
          </a:p>
        </p:txBody>
      </p:sp>
      <p:pic>
        <p:nvPicPr>
          <p:cNvPr id="13" name="Paquímetro" descr="Paquímetro milesimal aberto em 1.238 polegad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888" y="3246120"/>
            <a:ext cx="9418320" cy="2835306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CEE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0"/>
            <a:ext cx="122255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3232"/>
            <a:ext cx="9509760" cy="1051560"/>
          </a:xfrm>
        </p:spPr>
        <p:txBody>
          <a:bodyPr anchor="ctr"/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Agora jogue: Missão Metrologia</a:t>
            </a:r>
          </a:p>
        </p:txBody>
      </p:sp>
      <p:sp>
        <p:nvSpPr>
          <p:cNvPr id="4" name="Explorar"/>
          <p:cNvSpPr/>
          <p:nvPr/>
        </p:nvSpPr>
        <p:spPr>
          <a:xfrm>
            <a:off x="548640" y="201168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31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Mundo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718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Polegada milesimal: escala fixa, nônio, leitura e abrir na medida</a:t>
            </a:r>
          </a:p>
        </p:txBody>
      </p:sp>
      <p:sp>
        <p:nvSpPr>
          <p:cNvPr id="7" name="Básico"/>
          <p:cNvSpPr/>
          <p:nvPr/>
        </p:nvSpPr>
        <p:spPr>
          <a:xfrm>
            <a:off x="3364992" y="201168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31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22402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Mundo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3592" y="29718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Tolerâncias: cota, máxima, mínima e passa ou não passa</a:t>
            </a:r>
          </a:p>
        </p:txBody>
      </p:sp>
      <p:sp>
        <p:nvSpPr>
          <p:cNvPr id="10" name="Médio"/>
          <p:cNvSpPr/>
          <p:nvPr/>
        </p:nvSpPr>
        <p:spPr>
          <a:xfrm>
            <a:off x="6181344" y="201168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31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22402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Chefão final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9718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Leia em polegada e decida se a peça passa</a:t>
            </a:r>
          </a:p>
        </p:txBody>
      </p:sp>
      <p:sp>
        <p:nvSpPr>
          <p:cNvPr id="13" name="Avançado"/>
          <p:cNvSpPr/>
          <p:nvPr/>
        </p:nvSpPr>
        <p:spPr>
          <a:xfrm>
            <a:off x="8997696" y="201168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26296" y="22402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Relatório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6296" y="29718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No fim, baixe o PDF com estrelas, XP e onde errou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11109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C00000"/>
                </a:solidFill>
                <a:latin typeface="Calibri"/>
              </a:rPr>
              <a:t>martinsrl1-web.github.io/fazenda-de-projetos</a:t>
            </a:r>
          </a:p>
          <a:p>
            <a:pPr algn="ctr"/>
            <a:r>
              <a:rPr sz="2800" b="0">
                <a:solidFill>
                  <a:srgbClr val="002060"/>
                </a:solidFill>
                <a:latin typeface="Calibri"/>
              </a:rPr>
              <a:t>Metrologia › Missão Metrologia (revisão por fases)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 do model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300" y="0"/>
            <a:ext cx="12221300" cy="6857999"/>
          </a:xfrm>
          <a:prstGeom prst="rect">
            <a:avLst/>
          </a:prstGeom>
        </p:spPr>
      </p:pic>
      <p:sp>
        <p:nvSpPr>
          <p:cNvPr id="3" name="Título"/>
          <p:cNvSpPr txBox="1"/>
          <p:nvPr/>
        </p:nvSpPr>
        <p:spPr>
          <a:xfrm>
            <a:off x="411480" y="713232"/>
            <a:ext cx="9509760" cy="10515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COMO SE LÊ UMA COTA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57400"/>
            <a:ext cx="11064240" cy="1828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15000" b="1" i="0">
                <a:solidFill>
                  <a:srgbClr val="C00000"/>
                </a:solidFill>
                <a:latin typeface="Calibri"/>
              </a:rPr>
              <a:t>25</a:t>
            </a:r>
            <a:r>
              <a:rPr sz="15000" b="1" i="0">
                <a:solidFill>
                  <a:srgbClr val="002060"/>
                </a:solidFill>
                <a:latin typeface="Calibri"/>
              </a:rPr>
              <a:t> ± </a:t>
            </a:r>
            <a:r>
              <a:rPr sz="15000" b="1" i="0">
                <a:solidFill>
                  <a:srgbClr val="A85400"/>
                </a:solidFill>
                <a:latin typeface="Calibri"/>
              </a:rPr>
              <a:t>0,5</a:t>
            </a:r>
          </a:p>
        </p:txBody>
      </p:sp>
      <p:sp>
        <p:nvSpPr>
          <p:cNvPr id="5" name="Parte nominal"/>
          <p:cNvSpPr/>
          <p:nvPr/>
        </p:nvSpPr>
        <p:spPr>
          <a:xfrm>
            <a:off x="822960" y="4160520"/>
            <a:ext cx="5029200" cy="155448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4251960"/>
            <a:ext cx="45720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000" b="1" i="0">
                <a:solidFill>
                  <a:srgbClr val="C00000"/>
                </a:solidFill>
                <a:latin typeface="Calibri"/>
              </a:rPr>
              <a:t>25 = medida nominal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892040"/>
            <a:ext cx="45720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0" i="0">
                <a:solidFill>
                  <a:srgbClr val="4A5568"/>
                </a:solidFill>
                <a:latin typeface="Calibri"/>
              </a:rPr>
              <a:t>o valor pedido no desenho</a:t>
            </a:r>
          </a:p>
        </p:txBody>
      </p:sp>
      <p:sp>
        <p:nvSpPr>
          <p:cNvPr id="8" name="Parte tolerância"/>
          <p:cNvSpPr/>
          <p:nvPr/>
        </p:nvSpPr>
        <p:spPr>
          <a:xfrm>
            <a:off x="6309360" y="4160520"/>
            <a:ext cx="5029200" cy="155448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37960" y="4251960"/>
            <a:ext cx="45720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000" b="1" i="0">
                <a:solidFill>
                  <a:srgbClr val="A85400"/>
                </a:solidFill>
                <a:latin typeface="Calibri"/>
              </a:rPr>
              <a:t>± 0,5 = tolerância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4892040"/>
            <a:ext cx="45720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0" i="0">
                <a:solidFill>
                  <a:srgbClr val="4A5568"/>
                </a:solidFill>
                <a:latin typeface="Calibri"/>
              </a:rPr>
              <a:t>quanto pode variar para cada lado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 do model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300" y="0"/>
            <a:ext cx="12221300" cy="6857999"/>
          </a:xfrm>
          <a:prstGeom prst="rect">
            <a:avLst/>
          </a:prstGeom>
        </p:spPr>
      </p:pic>
      <p:sp>
        <p:nvSpPr>
          <p:cNvPr id="3" name="Título"/>
          <p:cNvSpPr txBox="1"/>
          <p:nvPr/>
        </p:nvSpPr>
        <p:spPr>
          <a:xfrm>
            <a:off x="411480" y="713232"/>
            <a:ext cx="9509760" cy="10515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FAIXA DE TOLERÂNCIA</a:t>
            </a:r>
          </a:p>
        </p:txBody>
      </p:sp>
      <p:sp>
        <p:nvSpPr>
          <p:cNvPr id="4" name="Faixa FORA"/>
          <p:cNvSpPr/>
          <p:nvPr/>
        </p:nvSpPr>
        <p:spPr>
          <a:xfrm>
            <a:off x="640080" y="2926080"/>
            <a:ext cx="2176272" cy="868680"/>
          </a:xfrm>
          <a:prstGeom prst="rect">
            <a:avLst/>
          </a:prstGeom>
          <a:solidFill>
            <a:srgbClr val="F8D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2176272" cy="8686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2600" b="1" i="0">
                <a:solidFill>
                  <a:srgbClr val="C00000"/>
                </a:solidFill>
                <a:latin typeface="Calibri"/>
              </a:rPr>
              <a:t>FORA</a:t>
            </a:r>
          </a:p>
        </p:txBody>
      </p:sp>
      <p:sp>
        <p:nvSpPr>
          <p:cNvPr id="6" name="Faixa DENTRO"/>
          <p:cNvSpPr/>
          <p:nvPr/>
        </p:nvSpPr>
        <p:spPr>
          <a:xfrm>
            <a:off x="2816352" y="2926080"/>
            <a:ext cx="6528816" cy="868680"/>
          </a:xfrm>
          <a:prstGeom prst="rect">
            <a:avLst/>
          </a:prstGeom>
          <a:solidFill>
            <a:srgbClr val="DD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816352" y="2926080"/>
            <a:ext cx="6528816" cy="8686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2600" b="1" i="0">
                <a:solidFill>
                  <a:srgbClr val="1E7A46"/>
                </a:solidFill>
                <a:latin typeface="Calibri"/>
              </a:rPr>
              <a:t>DENTRO</a:t>
            </a:r>
          </a:p>
        </p:txBody>
      </p:sp>
      <p:sp>
        <p:nvSpPr>
          <p:cNvPr id="8" name="Faixa FORA"/>
          <p:cNvSpPr/>
          <p:nvPr/>
        </p:nvSpPr>
        <p:spPr>
          <a:xfrm>
            <a:off x="9345168" y="2926080"/>
            <a:ext cx="2176271" cy="868680"/>
          </a:xfrm>
          <a:prstGeom prst="rect">
            <a:avLst/>
          </a:prstGeom>
          <a:solidFill>
            <a:srgbClr val="F8D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45168" y="2926080"/>
            <a:ext cx="2176271" cy="8686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2600" b="1" i="0">
                <a:solidFill>
                  <a:srgbClr val="C00000"/>
                </a:solidFill>
                <a:latin typeface="Calibri"/>
              </a:rPr>
              <a:t>FORA</a:t>
            </a:r>
          </a:p>
        </p:txBody>
      </p:sp>
      <p:sp>
        <p:nvSpPr>
          <p:cNvPr id="10" name="Linha mínima"/>
          <p:cNvSpPr/>
          <p:nvPr/>
        </p:nvSpPr>
        <p:spPr>
          <a:xfrm>
            <a:off x="2784348" y="2743200"/>
            <a:ext cx="64008" cy="123444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719072" y="1965960"/>
            <a:ext cx="2194560" cy="777240"/>
          </a:xfrm>
          <a:prstGeom prst="rect">
            <a:avLst/>
          </a:prstGeom>
          <a:noFill/>
        </p:spPr>
        <p:txBody>
          <a:bodyPr wrap="square" anchor="b" lIns="73152" rIns="73152" tIns="36576" bIns="36576">
            <a:spAutoFit/>
          </a:bodyPr>
          <a:lstStyle/>
          <a:p>
            <a:pPr algn="ctr"/>
            <a:r>
              <a:rPr sz="4400" b="1" i="0">
                <a:solidFill>
                  <a:srgbClr val="002060"/>
                </a:solidFill>
                <a:latin typeface="Calibri"/>
              </a:rPr>
              <a:t>24,5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4023360"/>
            <a:ext cx="2194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2400" b="0" i="0">
                <a:solidFill>
                  <a:srgbClr val="4A5568"/>
                </a:solidFill>
                <a:latin typeface="Calibri"/>
              </a:rPr>
              <a:t>mínima</a:t>
            </a:r>
          </a:p>
        </p:txBody>
      </p:sp>
      <p:sp>
        <p:nvSpPr>
          <p:cNvPr id="13" name="Marca nominal acima"/>
          <p:cNvSpPr/>
          <p:nvPr/>
        </p:nvSpPr>
        <p:spPr>
          <a:xfrm>
            <a:off x="6048756" y="2743200"/>
            <a:ext cx="64008" cy="2286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Marca nominal abaixo"/>
          <p:cNvSpPr/>
          <p:nvPr/>
        </p:nvSpPr>
        <p:spPr>
          <a:xfrm>
            <a:off x="6048756" y="3749040"/>
            <a:ext cx="64008" cy="2286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983480" y="1965960"/>
            <a:ext cx="2194560" cy="777240"/>
          </a:xfrm>
          <a:prstGeom prst="rect">
            <a:avLst/>
          </a:prstGeom>
          <a:noFill/>
        </p:spPr>
        <p:txBody>
          <a:bodyPr wrap="square" anchor="b" lIns="73152" rIns="73152" tIns="36576" bIns="36576">
            <a:spAutoFit/>
          </a:bodyPr>
          <a:lstStyle/>
          <a:p>
            <a:pPr algn="ctr"/>
            <a:r>
              <a:rPr sz="4400" b="1" i="0">
                <a:solidFill>
                  <a:srgbClr val="C00000"/>
                </a:solidFill>
                <a:latin typeface="Calibri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4023360"/>
            <a:ext cx="2194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2400" b="0" i="0">
                <a:solidFill>
                  <a:srgbClr val="4A5568"/>
                </a:solidFill>
                <a:latin typeface="Calibri"/>
              </a:rPr>
              <a:t>nominal</a:t>
            </a:r>
          </a:p>
        </p:txBody>
      </p:sp>
      <p:sp>
        <p:nvSpPr>
          <p:cNvPr id="17" name="Linha máxima"/>
          <p:cNvSpPr/>
          <p:nvPr/>
        </p:nvSpPr>
        <p:spPr>
          <a:xfrm>
            <a:off x="9313164" y="2743200"/>
            <a:ext cx="64008" cy="123444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47888" y="1965960"/>
            <a:ext cx="2194560" cy="777240"/>
          </a:xfrm>
          <a:prstGeom prst="rect">
            <a:avLst/>
          </a:prstGeom>
          <a:noFill/>
        </p:spPr>
        <p:txBody>
          <a:bodyPr wrap="square" anchor="b" lIns="73152" rIns="73152" tIns="36576" bIns="36576">
            <a:spAutoFit/>
          </a:bodyPr>
          <a:lstStyle/>
          <a:p>
            <a:pPr algn="ctr"/>
            <a:r>
              <a:rPr sz="4400" b="1" i="0">
                <a:solidFill>
                  <a:srgbClr val="002060"/>
                </a:solidFill>
                <a:latin typeface="Calibri"/>
              </a:rPr>
              <a:t>25,5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4023360"/>
            <a:ext cx="2194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2400" b="0" i="0">
                <a:solidFill>
                  <a:srgbClr val="4A5568"/>
                </a:solidFill>
                <a:latin typeface="Calibri"/>
              </a:rPr>
              <a:t>máxima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16352" y="4663440"/>
            <a:ext cx="6528816" cy="0"/>
          </a:xfrm>
          <a:prstGeom prst="line">
            <a:avLst/>
          </a:prstGeom>
          <a:ln w="31750">
            <a:solidFill>
              <a:srgbClr val="00206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4754880"/>
            <a:ext cx="1088136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Calibri"/>
              </a:rPr>
              <a:t>largura da faixa = 25,5 − 24,5 = 1 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2400" b="0" i="0">
                <a:solidFill>
                  <a:srgbClr val="4A5568"/>
                </a:solidFill>
                <a:latin typeface="Calibri"/>
              </a:rPr>
              <a:t>É sempre o dobro da tolerância: 2 × 0,5 = 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 do model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300" y="0"/>
            <a:ext cx="12221300" cy="6857999"/>
          </a:xfrm>
          <a:prstGeom prst="rect">
            <a:avLst/>
          </a:prstGeom>
        </p:spPr>
      </p:pic>
      <p:sp>
        <p:nvSpPr>
          <p:cNvPr id="3" name="Título"/>
          <p:cNvSpPr txBox="1"/>
          <p:nvPr/>
        </p:nvSpPr>
        <p:spPr>
          <a:xfrm>
            <a:off x="411480" y="713232"/>
            <a:ext cx="9509760" cy="10515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AS QUATRO CONTAS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74519"/>
          <a:ext cx="11064240" cy="3931920"/>
        </p:xfrm>
        <a:graphic>
          <a:graphicData uri="http://schemas.openxmlformats.org/drawingml/2006/table">
            <a:tbl>
              <a:tblPr firstRow="1" bandRow="0"/>
              <a:tblGrid>
                <a:gridCol w="2377440"/>
                <a:gridCol w="5669280"/>
                <a:gridCol w="3017520"/>
              </a:tblGrid>
              <a:tr h="786384">
                <a:tc>
                  <a:txBody>
                    <a:bodyPr wrap="square"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O quê</a:t>
                      </a:r>
                    </a:p>
                  </a:txBody>
                  <a:tcPr marL="109728" marR="109728" anchor="ctr">
                    <a:solidFill>
                      <a:srgbClr val="312B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Como achar</a:t>
                      </a:r>
                    </a:p>
                  </a:txBody>
                  <a:tcPr marL="109728" marR="109728" anchor="ctr">
                    <a:solidFill>
                      <a:srgbClr val="312B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Em 25 ± 0,5</a:t>
                      </a:r>
                    </a:p>
                  </a:txBody>
                  <a:tcPr marL="109728" marR="109728" anchor="ctr">
                    <a:solidFill>
                      <a:srgbClr val="312B50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3000" b="1">
                          <a:solidFill>
                            <a:srgbClr val="002060"/>
                          </a:solidFill>
                          <a:latin typeface="Calibri"/>
                        </a:rPr>
                        <a:t>Nominal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000" b="0">
                          <a:solidFill>
                            <a:srgbClr val="002060"/>
                          </a:solidFill>
                          <a:latin typeface="Calibri"/>
                        </a:rPr>
                        <a:t>O número antes do ±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000" b="0">
                          <a:solidFill>
                            <a:srgbClr val="002060"/>
                          </a:solidFill>
                          <a:latin typeface="Calibri"/>
                        </a:rPr>
                        <a:t>25 mm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3000" b="1">
                          <a:solidFill>
                            <a:srgbClr val="002060"/>
                          </a:solidFill>
                          <a:latin typeface="Calibri"/>
                        </a:rPr>
                        <a:t>Máxima</a:t>
                      </a:r>
                    </a:p>
                  </a:txBody>
                  <a:tcPr marL="109728" marR="10972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000" b="0">
                          <a:solidFill>
                            <a:srgbClr val="002060"/>
                          </a:solidFill>
                          <a:latin typeface="Calibri"/>
                        </a:rPr>
                        <a:t>Nominal + tolerância</a:t>
                      </a:r>
                    </a:p>
                  </a:txBody>
                  <a:tcPr marL="109728" marR="10972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000" b="0">
                          <a:solidFill>
                            <a:srgbClr val="002060"/>
                          </a:solidFill>
                          <a:latin typeface="Calibri"/>
                        </a:rPr>
                        <a:t>25,5 mm</a:t>
                      </a:r>
                    </a:p>
                  </a:txBody>
                  <a:tcPr marL="109728" marR="109728" anchor="ctr">
                    <a:solidFill>
                      <a:srgbClr val="EEF1F6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3000" b="1">
                          <a:solidFill>
                            <a:srgbClr val="002060"/>
                          </a:solidFill>
                          <a:latin typeface="Calibri"/>
                        </a:rPr>
                        <a:t>Mínima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000" b="0">
                          <a:solidFill>
                            <a:srgbClr val="002060"/>
                          </a:solidFill>
                          <a:latin typeface="Calibri"/>
                        </a:rPr>
                        <a:t>Nominal − tolerância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000" b="0">
                          <a:solidFill>
                            <a:srgbClr val="002060"/>
                          </a:solidFill>
                          <a:latin typeface="Calibri"/>
                        </a:rPr>
                        <a:t>24,5 mm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3000" b="1">
                          <a:solidFill>
                            <a:srgbClr val="002060"/>
                          </a:solidFill>
                          <a:latin typeface="Calibri"/>
                        </a:rPr>
                        <a:t>Faixa</a:t>
                      </a:r>
                    </a:p>
                  </a:txBody>
                  <a:tcPr marL="109728" marR="10972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000" b="0">
                          <a:solidFill>
                            <a:srgbClr val="002060"/>
                          </a:solidFill>
                          <a:latin typeface="Calibri"/>
                        </a:rPr>
                        <a:t>Máxima − mínima (2 × tolerância)</a:t>
                      </a:r>
                    </a:p>
                  </a:txBody>
                  <a:tcPr marL="109728" marR="10972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000" b="0">
                          <a:solidFill>
                            <a:srgbClr val="002060"/>
                          </a:solidFill>
                          <a:latin typeface="Calibri"/>
                        </a:rPr>
                        <a:t>1 mm</a:t>
                      </a:r>
                    </a:p>
                  </a:txBody>
                  <a:tcPr marL="109728" marR="109728" anchor="ctr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 do model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300" y="0"/>
            <a:ext cx="12221300" cy="6857999"/>
          </a:xfrm>
          <a:prstGeom prst="rect">
            <a:avLst/>
          </a:prstGeom>
        </p:spPr>
      </p:pic>
      <p:sp>
        <p:nvSpPr>
          <p:cNvPr id="3" name="Título"/>
          <p:cNvSpPr txBox="1"/>
          <p:nvPr/>
        </p:nvSpPr>
        <p:spPr>
          <a:xfrm>
            <a:off x="411480" y="713232"/>
            <a:ext cx="9509760" cy="10515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PASSA OU NÃO PASSA?</a:t>
            </a:r>
          </a:p>
        </p:txBody>
      </p:sp>
      <p:sp>
        <p:nvSpPr>
          <p:cNvPr id="4" name="Faixa FORA"/>
          <p:cNvSpPr/>
          <p:nvPr/>
        </p:nvSpPr>
        <p:spPr>
          <a:xfrm>
            <a:off x="640080" y="2926080"/>
            <a:ext cx="2176272" cy="868680"/>
          </a:xfrm>
          <a:prstGeom prst="rect">
            <a:avLst/>
          </a:prstGeom>
          <a:solidFill>
            <a:srgbClr val="F8D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2176272" cy="8686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2600" b="1" i="0">
                <a:solidFill>
                  <a:srgbClr val="C00000"/>
                </a:solidFill>
                <a:latin typeface="Calibri"/>
              </a:rPr>
              <a:t>NÃO PASSA</a:t>
            </a:r>
          </a:p>
        </p:txBody>
      </p:sp>
      <p:sp>
        <p:nvSpPr>
          <p:cNvPr id="6" name="Faixa DENTRO"/>
          <p:cNvSpPr/>
          <p:nvPr/>
        </p:nvSpPr>
        <p:spPr>
          <a:xfrm>
            <a:off x="2816352" y="2926080"/>
            <a:ext cx="6528816" cy="868680"/>
          </a:xfrm>
          <a:prstGeom prst="rect">
            <a:avLst/>
          </a:prstGeom>
          <a:solidFill>
            <a:srgbClr val="DD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816352" y="2926080"/>
            <a:ext cx="6528816" cy="8686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2600" b="1" i="0">
                <a:solidFill>
                  <a:srgbClr val="1E7A46"/>
                </a:solidFill>
                <a:latin typeface="Calibri"/>
              </a:rPr>
              <a:t>PASSA</a:t>
            </a:r>
          </a:p>
        </p:txBody>
      </p:sp>
      <p:sp>
        <p:nvSpPr>
          <p:cNvPr id="8" name="Faixa FORA"/>
          <p:cNvSpPr/>
          <p:nvPr/>
        </p:nvSpPr>
        <p:spPr>
          <a:xfrm>
            <a:off x="9345168" y="2926080"/>
            <a:ext cx="2176271" cy="868680"/>
          </a:xfrm>
          <a:prstGeom prst="rect">
            <a:avLst/>
          </a:prstGeom>
          <a:solidFill>
            <a:srgbClr val="F8D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45168" y="2926080"/>
            <a:ext cx="2176271" cy="8686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2600" b="1" i="0">
                <a:solidFill>
                  <a:srgbClr val="C00000"/>
                </a:solidFill>
                <a:latin typeface="Calibri"/>
              </a:rPr>
              <a:t>NÃO PASSA</a:t>
            </a:r>
          </a:p>
        </p:txBody>
      </p:sp>
      <p:sp>
        <p:nvSpPr>
          <p:cNvPr id="10" name="Linha mínima"/>
          <p:cNvSpPr/>
          <p:nvPr/>
        </p:nvSpPr>
        <p:spPr>
          <a:xfrm>
            <a:off x="2784348" y="2743200"/>
            <a:ext cx="64008" cy="123444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719072" y="1965960"/>
            <a:ext cx="2194560" cy="777240"/>
          </a:xfrm>
          <a:prstGeom prst="rect">
            <a:avLst/>
          </a:prstGeom>
          <a:noFill/>
        </p:spPr>
        <p:txBody>
          <a:bodyPr wrap="square" anchor="b" lIns="73152" rIns="73152" tIns="36576" bIns="36576">
            <a:spAutoFit/>
          </a:bodyPr>
          <a:lstStyle/>
          <a:p>
            <a:pPr algn="ctr"/>
            <a:r>
              <a:rPr sz="4400" b="1" i="0">
                <a:solidFill>
                  <a:srgbClr val="002060"/>
                </a:solidFill>
                <a:latin typeface="Calibri"/>
              </a:rPr>
              <a:t>24,5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4023360"/>
            <a:ext cx="2194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2400" b="0" i="0">
                <a:solidFill>
                  <a:srgbClr val="4A5568"/>
                </a:solidFill>
                <a:latin typeface="Calibri"/>
              </a:rPr>
              <a:t>mínima</a:t>
            </a:r>
          </a:p>
        </p:txBody>
      </p:sp>
      <p:sp>
        <p:nvSpPr>
          <p:cNvPr id="13" name="Marca nominal acima"/>
          <p:cNvSpPr/>
          <p:nvPr/>
        </p:nvSpPr>
        <p:spPr>
          <a:xfrm>
            <a:off x="6048756" y="2743200"/>
            <a:ext cx="64008" cy="2286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Marca nominal abaixo"/>
          <p:cNvSpPr/>
          <p:nvPr/>
        </p:nvSpPr>
        <p:spPr>
          <a:xfrm>
            <a:off x="6048756" y="3749040"/>
            <a:ext cx="64008" cy="2286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983480" y="1965960"/>
            <a:ext cx="2194560" cy="777240"/>
          </a:xfrm>
          <a:prstGeom prst="rect">
            <a:avLst/>
          </a:prstGeom>
          <a:noFill/>
        </p:spPr>
        <p:txBody>
          <a:bodyPr wrap="square" anchor="b" lIns="73152" rIns="73152" tIns="36576" bIns="36576">
            <a:spAutoFit/>
          </a:bodyPr>
          <a:lstStyle/>
          <a:p>
            <a:pPr algn="ctr"/>
            <a:r>
              <a:rPr sz="4400" b="1" i="0">
                <a:solidFill>
                  <a:srgbClr val="C00000"/>
                </a:solidFill>
                <a:latin typeface="Calibri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4023360"/>
            <a:ext cx="2194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2400" b="0" i="0">
                <a:solidFill>
                  <a:srgbClr val="4A5568"/>
                </a:solidFill>
                <a:latin typeface="Calibri"/>
              </a:rPr>
              <a:t>nominal</a:t>
            </a:r>
          </a:p>
        </p:txBody>
      </p:sp>
      <p:sp>
        <p:nvSpPr>
          <p:cNvPr id="17" name="Linha máxima"/>
          <p:cNvSpPr/>
          <p:nvPr/>
        </p:nvSpPr>
        <p:spPr>
          <a:xfrm>
            <a:off x="9313164" y="2743200"/>
            <a:ext cx="64008" cy="123444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47888" y="1965960"/>
            <a:ext cx="2194560" cy="777240"/>
          </a:xfrm>
          <a:prstGeom prst="rect">
            <a:avLst/>
          </a:prstGeom>
          <a:noFill/>
        </p:spPr>
        <p:txBody>
          <a:bodyPr wrap="square" anchor="b" lIns="73152" rIns="73152" tIns="36576" bIns="36576">
            <a:spAutoFit/>
          </a:bodyPr>
          <a:lstStyle/>
          <a:p>
            <a:pPr algn="ctr"/>
            <a:r>
              <a:rPr sz="4400" b="1" i="0">
                <a:solidFill>
                  <a:srgbClr val="002060"/>
                </a:solidFill>
                <a:latin typeface="Calibri"/>
              </a:rPr>
              <a:t>25,5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4023360"/>
            <a:ext cx="2194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2400" b="0" i="0">
                <a:solidFill>
                  <a:srgbClr val="4A5568"/>
                </a:solidFill>
                <a:latin typeface="Calibri"/>
              </a:rPr>
              <a:t>máxima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16352" y="4663440"/>
            <a:ext cx="6528816" cy="0"/>
          </a:xfrm>
          <a:prstGeom prst="line">
            <a:avLst/>
          </a:prstGeom>
          <a:ln w="31750">
            <a:solidFill>
              <a:srgbClr val="00206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4754880"/>
            <a:ext cx="1088136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Calibri"/>
              </a:rPr>
              <a:t>Passa entre a mínima e a máxima. No limite, ainda passa.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2400" b="0" i="0">
                <a:solidFill>
                  <a:srgbClr val="4A5568"/>
                </a:solidFill>
                <a:latin typeface="Calibri"/>
              </a:rPr>
              <a:t>Cota 25 ± 0,5:  25,3 passa · 25,5 passa · 25,6 não passa · 24,4 não passa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 do model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300" y="0"/>
            <a:ext cx="12221300" cy="6857999"/>
          </a:xfrm>
          <a:prstGeom prst="rect">
            <a:avLst/>
          </a:prstGeom>
        </p:spPr>
      </p:pic>
      <p:sp>
        <p:nvSpPr>
          <p:cNvPr id="3" name="Título"/>
          <p:cNvSpPr txBox="1"/>
          <p:nvPr/>
        </p:nvSpPr>
        <p:spPr>
          <a:xfrm>
            <a:off x="411480" y="713232"/>
            <a:ext cx="9509760" cy="10515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3800" b="1">
                <a:solidFill>
                  <a:srgbClr val="C00000"/>
                </a:solidFill>
                <a:latin typeface="Calibri"/>
              </a:rPr>
              <a:t>TUDO JUNTO: TOLERÂNCIA EM POLEGADA</a:t>
            </a:r>
          </a:p>
        </p:txBody>
      </p:sp>
      <p:sp>
        <p:nvSpPr>
          <p:cNvPr id="4" name="Faixa FORA"/>
          <p:cNvSpPr/>
          <p:nvPr/>
        </p:nvSpPr>
        <p:spPr>
          <a:xfrm>
            <a:off x="640080" y="2926080"/>
            <a:ext cx="2176272" cy="868680"/>
          </a:xfrm>
          <a:prstGeom prst="rect">
            <a:avLst/>
          </a:prstGeom>
          <a:solidFill>
            <a:srgbClr val="F8D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2176272" cy="8686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2600" b="1" i="0">
                <a:solidFill>
                  <a:srgbClr val="C00000"/>
                </a:solidFill>
                <a:latin typeface="Calibri"/>
              </a:rPr>
              <a:t>FORA</a:t>
            </a:r>
          </a:p>
        </p:txBody>
      </p:sp>
      <p:sp>
        <p:nvSpPr>
          <p:cNvPr id="6" name="Faixa DENTRO"/>
          <p:cNvSpPr/>
          <p:nvPr/>
        </p:nvSpPr>
        <p:spPr>
          <a:xfrm>
            <a:off x="2816352" y="2926080"/>
            <a:ext cx="6528816" cy="868680"/>
          </a:xfrm>
          <a:prstGeom prst="rect">
            <a:avLst/>
          </a:prstGeom>
          <a:solidFill>
            <a:srgbClr val="DD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816352" y="2926080"/>
            <a:ext cx="6528816" cy="8686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2600" b="1" i="0">
                <a:solidFill>
                  <a:srgbClr val="1E7A46"/>
                </a:solidFill>
                <a:latin typeface="Calibri"/>
              </a:rPr>
              <a:t>DENTRO</a:t>
            </a:r>
          </a:p>
        </p:txBody>
      </p:sp>
      <p:sp>
        <p:nvSpPr>
          <p:cNvPr id="8" name="Faixa FORA"/>
          <p:cNvSpPr/>
          <p:nvPr/>
        </p:nvSpPr>
        <p:spPr>
          <a:xfrm>
            <a:off x="9345168" y="2926080"/>
            <a:ext cx="2176271" cy="868680"/>
          </a:xfrm>
          <a:prstGeom prst="rect">
            <a:avLst/>
          </a:prstGeom>
          <a:solidFill>
            <a:srgbClr val="F8D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45168" y="2926080"/>
            <a:ext cx="2176271" cy="8686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2600" b="1" i="0">
                <a:solidFill>
                  <a:srgbClr val="C00000"/>
                </a:solidFill>
                <a:latin typeface="Calibri"/>
              </a:rPr>
              <a:t>FORA</a:t>
            </a:r>
          </a:p>
        </p:txBody>
      </p:sp>
      <p:sp>
        <p:nvSpPr>
          <p:cNvPr id="10" name="Linha mínima"/>
          <p:cNvSpPr/>
          <p:nvPr/>
        </p:nvSpPr>
        <p:spPr>
          <a:xfrm>
            <a:off x="2784348" y="2743200"/>
            <a:ext cx="64008" cy="123444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719072" y="1965960"/>
            <a:ext cx="2194560" cy="777240"/>
          </a:xfrm>
          <a:prstGeom prst="rect">
            <a:avLst/>
          </a:prstGeom>
          <a:noFill/>
        </p:spPr>
        <p:txBody>
          <a:bodyPr wrap="square" anchor="b" lIns="73152" rIns="73152" tIns="36576" bIns="36576">
            <a:spAutoFit/>
          </a:bodyPr>
          <a:lstStyle/>
          <a:p>
            <a:pPr algn="ctr"/>
            <a:r>
              <a:rPr sz="4400" b="1" i="0">
                <a:solidFill>
                  <a:srgbClr val="002060"/>
                </a:solidFill>
                <a:latin typeface="Calibri"/>
              </a:rPr>
              <a:t>1.245"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4023360"/>
            <a:ext cx="2194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2400" b="0" i="0">
                <a:solidFill>
                  <a:srgbClr val="4A5568"/>
                </a:solidFill>
                <a:latin typeface="Calibri"/>
              </a:rPr>
              <a:t>mínima</a:t>
            </a:r>
          </a:p>
        </p:txBody>
      </p:sp>
      <p:sp>
        <p:nvSpPr>
          <p:cNvPr id="13" name="Marca nominal acima"/>
          <p:cNvSpPr/>
          <p:nvPr/>
        </p:nvSpPr>
        <p:spPr>
          <a:xfrm>
            <a:off x="6048756" y="2743200"/>
            <a:ext cx="64008" cy="2286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Marca nominal abaixo"/>
          <p:cNvSpPr/>
          <p:nvPr/>
        </p:nvSpPr>
        <p:spPr>
          <a:xfrm>
            <a:off x="6048756" y="3749040"/>
            <a:ext cx="64008" cy="2286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983480" y="1965960"/>
            <a:ext cx="2194560" cy="777240"/>
          </a:xfrm>
          <a:prstGeom prst="rect">
            <a:avLst/>
          </a:prstGeom>
          <a:noFill/>
        </p:spPr>
        <p:txBody>
          <a:bodyPr wrap="square" anchor="b" lIns="73152" rIns="73152" tIns="36576" bIns="36576">
            <a:spAutoFit/>
          </a:bodyPr>
          <a:lstStyle/>
          <a:p>
            <a:pPr algn="ctr"/>
            <a:r>
              <a:rPr sz="4400" b="1" i="0">
                <a:solidFill>
                  <a:srgbClr val="C00000"/>
                </a:solidFill>
                <a:latin typeface="Calibri"/>
              </a:rPr>
              <a:t>1.250"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4023360"/>
            <a:ext cx="2194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2400" b="0" i="0">
                <a:solidFill>
                  <a:srgbClr val="4A5568"/>
                </a:solidFill>
                <a:latin typeface="Calibri"/>
              </a:rPr>
              <a:t>nominal</a:t>
            </a:r>
          </a:p>
        </p:txBody>
      </p:sp>
      <p:sp>
        <p:nvSpPr>
          <p:cNvPr id="17" name="Linha máxima"/>
          <p:cNvSpPr/>
          <p:nvPr/>
        </p:nvSpPr>
        <p:spPr>
          <a:xfrm>
            <a:off x="9313164" y="2743200"/>
            <a:ext cx="64008" cy="123444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47888" y="1965960"/>
            <a:ext cx="2194560" cy="777240"/>
          </a:xfrm>
          <a:prstGeom prst="rect">
            <a:avLst/>
          </a:prstGeom>
          <a:noFill/>
        </p:spPr>
        <p:txBody>
          <a:bodyPr wrap="square" anchor="b" lIns="73152" rIns="73152" tIns="36576" bIns="36576">
            <a:spAutoFit/>
          </a:bodyPr>
          <a:lstStyle/>
          <a:p>
            <a:pPr algn="ctr"/>
            <a:r>
              <a:rPr sz="4400" b="1" i="0">
                <a:solidFill>
                  <a:srgbClr val="002060"/>
                </a:solidFill>
                <a:latin typeface="Calibri"/>
              </a:rPr>
              <a:t>1.255"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4023360"/>
            <a:ext cx="2194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2400" b="0" i="0">
                <a:solidFill>
                  <a:srgbClr val="4A5568"/>
                </a:solidFill>
                <a:latin typeface="Calibri"/>
              </a:rPr>
              <a:t>máxima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16352" y="4663440"/>
            <a:ext cx="6528816" cy="0"/>
          </a:xfrm>
          <a:prstGeom prst="line">
            <a:avLst/>
          </a:prstGeom>
          <a:ln w="31750">
            <a:solidFill>
              <a:srgbClr val="00206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4754880"/>
            <a:ext cx="1088136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Calibri"/>
              </a:rPr>
              <a:t>Cota 1.250" ± .005": aceita de 1.245" a 1.255"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2400" b="0" i="0">
                <a:solidFill>
                  <a:srgbClr val="4A5568"/>
                </a:solidFill>
                <a:latin typeface="Calibri"/>
              </a:rPr>
              <a:t>Leia o paquímetro e compare:  1.252" passa · 1.257" não passa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2020-02-04T02:22:18Z</dcterms:created>
  <dc:creator>Martins</dc:creator>
</cp:coreProperties>
</file>