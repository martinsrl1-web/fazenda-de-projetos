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6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400" r:id="rId6"/>
    <p:sldId id="401" r:id="rId970"/>
    <p:sldId id="402" r:id="rId971"/>
    <p:sldId id="403" r:id="rId972"/>
    <p:sldId id="404" r:id="rId973"/>
    <p:sldId id="405" r:id="rId980"/>
    <p:sldId id="406" r:id="rId981"/>
    <p:sldId id="407" r:id="rId982"/>
    <p:sldId id="408" r:id="rId983"/>
    <p:sldId id="409" r:id="rId975"/>
    <p:sldId id="410" r:id="rId976"/>
    <p:sldId id="411" r:id="rId45"/>
    <p:sldId id="412" r:id="rId46"/>
    <p:sldId id="413" r:id="rId47"/>
    <p:sldId id="414" r:id="rId48"/>
    <p:sldId id="415" r:id="rId49"/>
    <p:sldId id="416" r:id="rId51"/>
    <p:sldId id="417" r:id="rId52"/>
    <p:sldId id="418" r:id="rId55"/>
    <p:sldId id="419" r:id="rId56"/>
    <p:sldId id="420" r:id="rId59"/>
    <p:sldId id="421" r:id="rId60"/>
    <p:sldId id="422" r:id="rId974"/>
    <p:sldId id="423" r:id="rId977"/>
    <p:sldId id="424" r:id="rId978"/>
    <p:sldId id="425" r:id="rId6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43" roundtripDataSignature="AMtx7mhLuLgOGQqwwqQPiKG+lum6sDzcG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7B06C4-83CB-4E7F-B6FB-822D88C5FC76}">
  <a:tblStyle styleId="{437B06C4-83CB-4E7F-B6FB-822D88C5FC7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  <a:tcStyle>
        <a:fill>
          <a:solidFill>
            <a:srgbClr val="EDEDED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EDEDED"/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9525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/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top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9050">
              <a:solidFill>
                <a:srgbClr val="C9C9C9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/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43" Type="http://customschemas.google.com/relationships/presentationmetadata" Target="metadata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8" Type="http://schemas.openxmlformats.org/officeDocument/2006/relationships/slide" Target="slides/slide62.xml"/><Relationship Id="rId970" Type="http://schemas.openxmlformats.org/officeDocument/2006/relationships/slide" Target="slides/slide70.xml"/><Relationship Id="rId971" Type="http://schemas.openxmlformats.org/officeDocument/2006/relationships/slide" Target="slides/slide71.xml"/><Relationship Id="rId972" Type="http://schemas.openxmlformats.org/officeDocument/2006/relationships/slide" Target="slides/slide72.xml"/><Relationship Id="rId973" Type="http://schemas.openxmlformats.org/officeDocument/2006/relationships/slide" Target="slides/slide73.xml"/><Relationship Id="rId974" Type="http://schemas.openxmlformats.org/officeDocument/2006/relationships/slide" Target="slides/slide74.xml"/><Relationship Id="rId975" Type="http://schemas.openxmlformats.org/officeDocument/2006/relationships/slide" Target="slides/slide75.xml"/><Relationship Id="rId976" Type="http://schemas.openxmlformats.org/officeDocument/2006/relationships/slide" Target="slides/slide76.xml"/><Relationship Id="rId977" Type="http://schemas.openxmlformats.org/officeDocument/2006/relationships/slide" Target="slides/slide77.xml"/><Relationship Id="rId978" Type="http://schemas.openxmlformats.org/officeDocument/2006/relationships/slide" Target="slides/slide78.xml"/><Relationship Id="rId980" Type="http://schemas.openxmlformats.org/officeDocument/2006/relationships/slide" Target="slides/slide80.xml"/><Relationship Id="rId981" Type="http://schemas.openxmlformats.org/officeDocument/2006/relationships/slide" Target="slides/slide81.xml"/><Relationship Id="rId982" Type="http://schemas.openxmlformats.org/officeDocument/2006/relationships/slide" Target="slides/slide82.xml"/><Relationship Id="rId983" Type="http://schemas.openxmlformats.org/officeDocument/2006/relationships/slide" Target="slides/slide8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Abertura. Pergunte à turma se já viram chave, parafuso ou cano marcados em polegada. Hoje vamos ler o paquímetro em polegada milesimal, com resolução de um milésimo de polegada (.001").</a:t>
            </a:r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polegada milesimal (ou decimal) divide a polegada em 10, 100, 1000 partes. No sistema inglês o ponto separa os decimais e o zero antes do ponto costuma ser omitido: .725" = 0,725 polegada = 725 milésimos. Mostre que 1/2" e .500" são a mesma medida.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é a escala de polegada do paquímetro, fechado: o zero do nônio coincide com o zero da escala fixa. Na escala fixa cada polegada é dividida em 40 partes de .025". O nônio tem 25 divisões. Normalmente a escala em polegada fica na parte de baixo do paquímetro e a de milímetro em cima.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Entre dois números pequenos há 4 tracinhos de .025": .025, .050, .075 e .100. Na escala fixa, conte: polegada inteira + décimos (números pequenos) + quantos tracinhos de .025 passaram até o zero do nônio. A conta é só com números decimais, sem frações.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É a mesma fórmula do paquímetro em milímetro (1 mm ÷ 20 = 0,05 mm). UEF = unidade da escala fixa; NDN = número de divisões do nônio. Atenção: algumas apostilas trazem ".25" e "0,01" por engano; o certo é .025" por divisão e .001" de resolução.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Procedimento do Telecurso: o mesmo do milímetro. Conte as unidades de .025" à esquerda do zero do nônio e some os milésimos indicados pelo traço do nônio que coincide com um traço da escala fixa.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Exemplo do Telecurso. A polegada 1 ficou à esquerda, fora da imagem (a etiqueta no canto mostra). O zero do nônio passou o 7 pequeno (1.700) e ainda não chegou ao primeiro tracinho depois dele. O 21º traço do nônio coincide: .021. Total 1.721".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Caminho inverso: dada a medida, posicionar o cursor. Separe as polegadas inteiras. Divida os milésimos por 25 (porque cada tracinho vale 25 milésimos): o quociente diz quantos tracinhos passam na escala fixa e o resto diz qual traço do nônio deve coincidir. 238 ÷ 25 = 9 resto 13: 9 tracinhos = .225" (2 números pequenos e mais 1 tracinho). O nível Avançado do simulador treina isso.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linha rosa mostra o traço do nônio que coincide com a escala fixa. Peça que os alunos preencham as três caixas: escala fixa, nônio e a soma. A resposta está no próximo slide. Escala fixa: .300" + 1 × .025" = .325". Nônio: 22º traço coincide = .022". Total .325" + .022" = .347".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Escala fixa: .300" + 1 × .025" = .325". Nônio: 22º traço coincide = .022". Total .325" + .022" = .347".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linha rosa mostra o traço do nônio que coincide com a escala fixa. Peça que os alunos preencham as três caixas: escala fixa, nônio e a soma. A resposta está no próximo slide. Escala fixa: 2" + .500" = 2.500". Nônio: 6º traço coincide = .006". Total 2.500" + .006" = 2.506".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Escala fixa: 2" + .500" = 2.500". Nônio: 6º traço coincide = .006". Total 2.500" + .006" = 2.506".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Sugestão: 10 minutos no Explorar com as guias ligadas; depois o Básico. Médio e Avançado podem ficar como tarefa. No fim, cada aluno usa o botão Copiar resultado e envia a pontuação.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lide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4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Conteúdo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beçalho da Seção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uas Partes de Conteúdo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ção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8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8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8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mente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 Br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údo com Legenda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1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m com Legenda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2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2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e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3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o e Título Vertical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4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0.xml"/><Relationship Id="rId4" Type="http://schemas.openxmlformats.org/officeDocument/2006/relationships/image" Target="../media/image29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5.xml"/><Relationship Id="rId4" Type="http://schemas.openxmlformats.org/officeDocument/2006/relationships/image" Target="../media/image3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6.xml"/><Relationship Id="rId4" Type="http://schemas.openxmlformats.org/officeDocument/2006/relationships/image" Target="../media/image3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9.xml"/><Relationship Id="rId4" Type="http://schemas.openxmlformats.org/officeDocument/2006/relationships/image" Target="../media/image33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0.xml"/><Relationship Id="rId4" Type="http://schemas.openxmlformats.org/officeDocument/2006/relationships/image" Target="../media/image3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3.xml"/><Relationship Id="rId4" Type="http://schemas.openxmlformats.org/officeDocument/2006/relationships/image" Target="../media/image36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4.xml"/><Relationship Id="rId4" Type="http://schemas.openxmlformats.org/officeDocument/2006/relationships/image" Target="../media/image3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1713"/>
            <a:ext cx="12192000" cy="68545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>
            <p:ph type="ctrTitle"/>
          </p:nvPr>
        </p:nvSpPr>
        <p:spPr>
          <a:xfrm>
            <a:off x="6539350" y="1886650"/>
            <a:ext cx="5652900" cy="4008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pt-BR" sz="5300">
                <a:solidFill>
                  <a:schemeClr val="lt1"/>
                </a:solidFill>
              </a:rPr>
              <a:t>Revisão: Tolerância e Polegada Milesimal</a:t>
            </a:r>
            <a:endParaRPr b="1" sz="5300">
              <a:solidFill>
                <a:schemeClr val="lt1"/>
              </a:solidFill>
            </a:endParaRPr>
          </a:p>
        </p:txBody>
      </p:sp>
      <p:sp>
        <p:nvSpPr>
          <p:cNvPr id="86" name="Google Shape;86;p1"/>
          <p:cNvSpPr txBox="1"/>
          <p:nvPr>
            <p:ph idx="1" type="subTitle"/>
          </p:nvPr>
        </p:nvSpPr>
        <p:spPr>
          <a:xfrm>
            <a:off x="6665842" y="6037110"/>
            <a:ext cx="5022600" cy="61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pt-BR" sz="3600">
                <a:solidFill>
                  <a:schemeClr val="lt1"/>
                </a:solidFill>
              </a:rPr>
              <a:t>Prof° Rodrigo Martins</a:t>
            </a:r>
            <a:endParaRPr sz="3600">
              <a:solidFill>
                <a:schemeClr val="lt1"/>
              </a:solidFill>
            </a:endParaRPr>
          </a:p>
        </p:txBody>
      </p:sp>
      <p:sp>
        <p:nvSpPr>
          <p:cNvPr id="87" name="Google Shape;87;p1"/>
          <p:cNvSpPr txBox="1"/>
          <p:nvPr>
            <p:ph type="ctrTitle"/>
          </p:nvPr>
        </p:nvSpPr>
        <p:spPr>
          <a:xfrm>
            <a:off x="6791900" y="634650"/>
            <a:ext cx="5271600" cy="911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b="1" lang="pt-BR" sz="5500">
                <a:solidFill>
                  <a:schemeClr val="lt1"/>
                </a:solidFill>
              </a:rPr>
              <a:t>Metrologia</a:t>
            </a:r>
            <a:endParaRPr b="1" sz="55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Polegada milesimal: escrita com ponto</a:t>
            </a:r>
          </a:p>
        </p:txBody>
      </p:sp>
      <p:sp>
        <p:nvSpPr>
          <p:cNvPr id="4" name="Exemplo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4A5568"/>
                </a:solidFill>
                <a:latin typeface="Calibri"/>
              </a:rPr>
              <a:t>No sistema inglês o ponto separa os decimais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54680"/>
            <a:ext cx="39319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C00000"/>
                </a:solidFill>
                <a:latin typeface="Calibri"/>
              </a:rPr>
              <a:t>.725"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526280"/>
            <a:ext cx="39319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2060"/>
                </a:solidFill>
                <a:latin typeface="Calibri"/>
              </a:rPr>
              <a:t>lê-se: 725 milésimos de polegada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2011680"/>
          <a:ext cx="6172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</a:tblGrid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Fração</a:t>
                      </a:r>
                    </a:p>
                  </a:txBody>
                  <a:tcPr anchor="ctr">
                    <a:solidFill>
                      <a:srgbClr val="312B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Milesimal</a:t>
                      </a:r>
                    </a:p>
                  </a:txBody>
                  <a:tcPr anchor="ctr">
                    <a:solidFill>
                      <a:srgbClr val="312B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Milímetro</a:t>
                      </a:r>
                    </a:p>
                  </a:txBody>
                  <a:tcPr anchor="ctr">
                    <a:solidFill>
                      <a:srgbClr val="312B5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1/2"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C00000"/>
                          </a:solidFill>
                          <a:latin typeface="Calibri"/>
                        </a:rPr>
                        <a:t>.500"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12,7 mm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1/4"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C00000"/>
                          </a:solidFill>
                          <a:latin typeface="Calibri"/>
                        </a:rPr>
                        <a:t>.250"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6,35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1/8"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C00000"/>
                          </a:solidFill>
                          <a:latin typeface="Calibri"/>
                        </a:rPr>
                        <a:t>.125"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3,175 mm</a:t>
                      </a:r>
                    </a:p>
                  </a:txBody>
                  <a:tcPr anchor="ctr">
                    <a:solidFill>
                      <a:srgbClr val="EEF1F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1">
                          <a:solidFill>
                            <a:srgbClr val="C00000"/>
                          </a:solidFill>
                          <a:latin typeface="Calibri"/>
                        </a:rPr>
                        <a:t>.001"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600" b="0">
                          <a:solidFill>
                            <a:srgbClr val="002060"/>
                          </a:solidFill>
                          <a:latin typeface="Calibri"/>
                        </a:rPr>
                        <a:t>0,0254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O paquímetro em polegada milesimal</a:t>
            </a:r>
          </a:p>
        </p:txBody>
      </p:sp>
      <p:pic>
        <p:nvPicPr>
          <p:cNvPr id="4" name="Paquímetro" descr="Paquímetro milesimal fechado: zero do nônio coincide com o zero da escala fix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965960"/>
            <a:ext cx="11064240" cy="3330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33917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Calibri"/>
              </a:rPr>
              <a:t>Escala fixa: </a:t>
            </a:r>
            <a:r>
              <a:rPr sz="2400" b="0">
                <a:solidFill>
                  <a:srgbClr val="002060"/>
                </a:solidFill>
                <a:latin typeface="Calibri"/>
              </a:rPr>
              <a:t>cada tracinho vale .025"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3640" y="5433917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00000"/>
                </a:solidFill>
                <a:latin typeface="Calibri"/>
              </a:rPr>
              <a:t>Nônio: </a:t>
            </a:r>
            <a:r>
              <a:rPr sz="2400" b="0">
                <a:solidFill>
                  <a:srgbClr val="002060"/>
                </a:solidFill>
                <a:latin typeface="Calibri"/>
              </a:rPr>
              <a:t>25 divisões, cada traço vale .001"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Como ler a escala fixa</a:t>
            </a:r>
          </a:p>
        </p:txBody>
      </p:sp>
      <p:sp>
        <p:nvSpPr>
          <p:cNvPr id="4" name="Números grandes: polegadas inteiras"/>
          <p:cNvSpPr/>
          <p:nvPr/>
        </p:nvSpPr>
        <p:spPr>
          <a:xfrm>
            <a:off x="548640" y="201168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2860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C00000"/>
                </a:solidFill>
                <a:latin typeface="Calibri"/>
              </a:rPr>
              <a:t>1  2  3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002060"/>
                </a:solidFill>
                <a:latin typeface="Calibri"/>
              </a:rPr>
              <a:t>Números grandes: polegadas inteiras</a:t>
            </a:r>
          </a:p>
        </p:txBody>
      </p:sp>
      <p:sp>
        <p:nvSpPr>
          <p:cNvPr id="7" name="Números pequenos: .100&quot; a .900&quot;"/>
          <p:cNvSpPr/>
          <p:nvPr/>
        </p:nvSpPr>
        <p:spPr>
          <a:xfrm>
            <a:off x="4315968" y="201168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22860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C00000"/>
                </a:solidFill>
                <a:latin typeface="Calibri"/>
              </a:rPr>
              <a:t>1 a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002060"/>
                </a:solidFill>
                <a:latin typeface="Calibri"/>
              </a:rPr>
              <a:t>Números pequenos: .100" a .900"</a:t>
            </a:r>
          </a:p>
        </p:txBody>
      </p:sp>
      <p:sp>
        <p:nvSpPr>
          <p:cNvPr id="10" name="Cada tracinho: 4 entre dois números pequenos"/>
          <p:cNvSpPr/>
          <p:nvPr/>
        </p:nvSpPr>
        <p:spPr>
          <a:xfrm>
            <a:off x="8083296" y="2011680"/>
            <a:ext cx="3566160" cy="2331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6" y="228600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C00000"/>
                </a:solidFill>
                <a:latin typeface="Calibri"/>
              </a:rPr>
              <a:t>.025"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32918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002060"/>
                </a:solidFill>
                <a:latin typeface="Calibri"/>
              </a:rPr>
              <a:t>Cada tracinho: 4 entre dois números pequenos</a:t>
            </a:r>
          </a:p>
        </p:txBody>
      </p:sp>
      <p:sp>
        <p:nvSpPr>
          <p:cNvPr id="13" name="Exemplo"/>
          <p:cNvSpPr/>
          <p:nvPr/>
        </p:nvSpPr>
        <p:spPr>
          <a:xfrm>
            <a:off x="548640" y="4572000"/>
            <a:ext cx="11109960" cy="132588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709160"/>
            <a:ext cx="105156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Exemplo: </a:t>
            </a:r>
            <a:r>
              <a:rPr sz="2600" b="0">
                <a:solidFill>
                  <a:srgbClr val="D9DEEA"/>
                </a:solidFill>
                <a:latin typeface="Calibri"/>
              </a:rPr>
              <a:t>passou o 1 grande, o 7 pequeno e 1 tracinho</a:t>
            </a:r>
          </a:p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1" + .700" + .025" = 1.725"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Resolução: a menor medida do paquímetro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11109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002060"/>
                </a:solidFill>
                <a:latin typeface="Calibri"/>
              </a:rPr>
              <a:t>Resolução = UEF ÷ NDN</a:t>
            </a:r>
          </a:p>
        </p:txBody>
      </p:sp>
      <p:sp>
        <p:nvSpPr>
          <p:cNvPr id="5" name="UEF"/>
          <p:cNvSpPr/>
          <p:nvPr/>
        </p:nvSpPr>
        <p:spPr>
          <a:xfrm>
            <a:off x="548640" y="297180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UEF (escala fixa)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6118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2060"/>
                </a:solidFill>
                <a:latin typeface="Calibri"/>
              </a:rPr>
              <a:t>1" ÷ 40 = .025"</a:t>
            </a:r>
          </a:p>
        </p:txBody>
      </p:sp>
      <p:sp>
        <p:nvSpPr>
          <p:cNvPr id="8" name="NDN"/>
          <p:cNvSpPr/>
          <p:nvPr/>
        </p:nvSpPr>
        <p:spPr>
          <a:xfrm>
            <a:off x="4315968" y="297180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NDN (nônio)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36118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002060"/>
                </a:solidFill>
                <a:latin typeface="Calibri"/>
              </a:rPr>
              <a:t>25 divisões</a:t>
            </a:r>
          </a:p>
        </p:txBody>
      </p:sp>
      <p:sp>
        <p:nvSpPr>
          <p:cNvPr id="11" name="Resultado"/>
          <p:cNvSpPr/>
          <p:nvPr/>
        </p:nvSpPr>
        <p:spPr>
          <a:xfrm>
            <a:off x="8092440" y="2971800"/>
            <a:ext cx="3566160" cy="173736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310896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9DEEA"/>
                </a:solidFill>
                <a:latin typeface="Calibri"/>
              </a:rPr>
              <a:t>Resolução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361188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.025 ÷ 25 = .001"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029200"/>
            <a:ext cx="11109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>
                <a:solidFill>
                  <a:srgbClr val="002060"/>
                </a:solidFill>
                <a:latin typeface="Calibri"/>
              </a:rPr>
              <a:t>Cada traço do nônio vale um milésimo de polegada (.001" = 0,0254 mm).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Leitura em três passos</a:t>
            </a:r>
          </a:p>
        </p:txBody>
      </p:sp>
      <p:sp>
        <p:nvSpPr>
          <p:cNvPr id="4" name="Leia a escala fixa"/>
          <p:cNvSpPr/>
          <p:nvPr/>
        </p:nvSpPr>
        <p:spPr>
          <a:xfrm>
            <a:off x="548640" y="2011680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sso 1"/>
          <p:cNvSpPr/>
          <p:nvPr/>
        </p:nvSpPr>
        <p:spPr>
          <a:xfrm>
            <a:off x="777240" y="2194560"/>
            <a:ext cx="822960" cy="8229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139696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Calibri"/>
              </a:rPr>
              <a:t>Leia a escala fixa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265176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Até o zero do nônio: polegadas + números pequenos + tracinhos de .025".</a:t>
            </a:r>
          </a:p>
        </p:txBody>
      </p:sp>
      <p:sp>
        <p:nvSpPr>
          <p:cNvPr id="9" name="Ache o traço que coincide"/>
          <p:cNvSpPr/>
          <p:nvPr/>
        </p:nvSpPr>
        <p:spPr>
          <a:xfrm>
            <a:off x="548640" y="3364992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sso 2"/>
          <p:cNvSpPr/>
          <p:nvPr/>
        </p:nvSpPr>
        <p:spPr>
          <a:xfrm>
            <a:off x="777240" y="3547872"/>
            <a:ext cx="822960" cy="8229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547872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93008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Calibri"/>
              </a:rPr>
              <a:t>Ache o traço que coincide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005072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O traço do nônio alinhado com um traço da escala fixa. Cada um vale .001".</a:t>
            </a:r>
          </a:p>
        </p:txBody>
      </p:sp>
      <p:sp>
        <p:nvSpPr>
          <p:cNvPr id="14" name="Some as duas leituras"/>
          <p:cNvSpPr/>
          <p:nvPr/>
        </p:nvSpPr>
        <p:spPr>
          <a:xfrm>
            <a:off x="548640" y="4718304"/>
            <a:ext cx="11109960" cy="11887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asso 3"/>
          <p:cNvSpPr/>
          <p:nvPr/>
        </p:nvSpPr>
        <p:spPr>
          <a:xfrm>
            <a:off x="777240" y="4901184"/>
            <a:ext cx="822960" cy="822960"/>
          </a:xfrm>
          <a:prstGeom prst="ellipse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901184"/>
            <a:ext cx="82296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4846320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02060"/>
                </a:solidFill>
                <a:latin typeface="Calibri"/>
              </a:rPr>
              <a:t>Some as duas leituras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5358384"/>
            <a:ext cx="9509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Escala fixa + nônio = leitura.  Ex.: 1.700" + .021" = 1.721".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Exemplo: 1.721"</a:t>
            </a:r>
          </a:p>
        </p:txBody>
      </p:sp>
      <p:pic>
        <p:nvPicPr>
          <p:cNvPr id="4" name="Paquímetro" descr="Paquímetro milesimal: escala fixa em 1.700 e 21º traço do nônio coincidin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965960"/>
            <a:ext cx="11064240" cy="3330797"/>
          </a:xfrm>
          <a:prstGeom prst="rect">
            <a:avLst/>
          </a:prstGeom>
        </p:spPr>
      </p:pic>
      <p:sp>
        <p:nvSpPr>
          <p:cNvPr id="5" name="Escala fixa"/>
          <p:cNvSpPr/>
          <p:nvPr/>
        </p:nvSpPr>
        <p:spPr>
          <a:xfrm>
            <a:off x="603503" y="5406485"/>
            <a:ext cx="3593591" cy="7315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5406485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4A5568"/>
                </a:solidFill>
                <a:latin typeface="Calibri"/>
              </a:rPr>
              <a:t>Escala fixa  </a:t>
            </a:r>
            <a:r>
              <a:rPr sz="3000" b="1">
                <a:solidFill>
                  <a:srgbClr val="002060"/>
                </a:solidFill>
                <a:latin typeface="Calibri"/>
              </a:rPr>
              <a:t>1.700"</a:t>
            </a:r>
          </a:p>
        </p:txBody>
      </p:sp>
      <p:sp>
        <p:nvSpPr>
          <p:cNvPr id="7" name="Nônio, 21º traço"/>
          <p:cNvSpPr/>
          <p:nvPr/>
        </p:nvSpPr>
        <p:spPr>
          <a:xfrm>
            <a:off x="4306823" y="5406485"/>
            <a:ext cx="3593591" cy="73152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79" y="5406485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4A5568"/>
                </a:solidFill>
                <a:latin typeface="Calibri"/>
              </a:rPr>
              <a:t>Nônio, 21º traço  </a:t>
            </a:r>
            <a:r>
              <a:rPr sz="3000" b="1">
                <a:solidFill>
                  <a:srgbClr val="002060"/>
                </a:solidFill>
                <a:latin typeface="Calibri"/>
              </a:rPr>
              <a:t>+ .021"</a:t>
            </a:r>
          </a:p>
        </p:txBody>
      </p:sp>
      <p:sp>
        <p:nvSpPr>
          <p:cNvPr id="9" name="Leitura"/>
          <p:cNvSpPr/>
          <p:nvPr/>
        </p:nvSpPr>
        <p:spPr>
          <a:xfrm>
            <a:off x="8010144" y="5406485"/>
            <a:ext cx="3593591" cy="73152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5406485"/>
            <a:ext cx="32461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D9DEEA"/>
                </a:solidFill>
                <a:latin typeface="Calibri"/>
              </a:rPr>
              <a:t>Leitura  </a:t>
            </a:r>
            <a:r>
              <a:rPr sz="3000" b="1">
                <a:solidFill>
                  <a:srgbClr val="FFFFFF"/>
                </a:solidFill>
                <a:latin typeface="Calibri"/>
              </a:rPr>
              <a:t>= 1.721"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Abrir o paquímetro em 1.238"</a:t>
            </a:r>
          </a:p>
        </p:txBody>
      </p:sp>
      <p:sp>
        <p:nvSpPr>
          <p:cNvPr id="4" name="1. Separe as polegadas"/>
          <p:cNvSpPr/>
          <p:nvPr/>
        </p:nvSpPr>
        <p:spPr>
          <a:xfrm>
            <a:off x="548640" y="201168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4A5568"/>
                </a:solidFill>
                <a:latin typeface="Calibri"/>
              </a:rPr>
              <a:t>1. Separe as polegadas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50592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2060"/>
                </a:solidFill>
                <a:latin typeface="Calibri"/>
              </a:rPr>
              <a:t>1.238 → 1" + .238"</a:t>
            </a:r>
          </a:p>
        </p:txBody>
      </p:sp>
      <p:sp>
        <p:nvSpPr>
          <p:cNvPr id="7" name="2. Milésimos ÷ 25"/>
          <p:cNvSpPr/>
          <p:nvPr/>
        </p:nvSpPr>
        <p:spPr>
          <a:xfrm>
            <a:off x="4315968" y="201168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4568" y="21031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4A5568"/>
                </a:solidFill>
                <a:latin typeface="Calibri"/>
              </a:rPr>
              <a:t>2. Milésimos ÷ 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2450592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002060"/>
                </a:solidFill>
                <a:latin typeface="Calibri"/>
              </a:rPr>
              <a:t>238 ÷ 25 = 9, resto 13</a:t>
            </a:r>
          </a:p>
        </p:txBody>
      </p:sp>
      <p:sp>
        <p:nvSpPr>
          <p:cNvPr id="10" name="3. Posicione"/>
          <p:cNvSpPr/>
          <p:nvPr/>
        </p:nvSpPr>
        <p:spPr>
          <a:xfrm>
            <a:off x="8083296" y="2011680"/>
            <a:ext cx="3566160" cy="109728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210312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D9DEEA"/>
                </a:solidFill>
                <a:latin typeface="Calibri"/>
              </a:rPr>
              <a:t>3. Posicione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1896" y="2450592"/>
            <a:ext cx="3154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9 tracinhos + 13º traço</a:t>
            </a:r>
          </a:p>
        </p:txBody>
      </p:sp>
      <p:pic>
        <p:nvPicPr>
          <p:cNvPr id="13" name="Paquímetro" descr="Paquímetro milesimal aberto em 1.238 polegad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89888" y="3246120"/>
            <a:ext cx="9418320" cy="2835306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7818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002060"/>
                </a:solidFill>
                <a:latin typeface="Calibri"/>
              </a:rPr>
              <a:t>Qual é a leitura? A </a:t>
            </a:r>
            <a:r>
              <a:rPr sz="2400" b="1">
                <a:solidFill>
                  <a:srgbClr val="E01E84"/>
                </a:solidFill>
                <a:latin typeface="Calibri"/>
              </a:rPr>
              <a:t>linha rosa</a:t>
            </a:r>
            <a:r>
              <a:rPr sz="2400" b="0">
                <a:solidFill>
                  <a:srgbClr val="002060"/>
                </a:solidFill>
                <a:latin typeface="Calibri"/>
              </a:rPr>
              <a:t> mostra o traço que coincide.</a:t>
            </a:r>
          </a:p>
        </p:txBody>
      </p:sp>
      <p:pic>
        <p:nvPicPr>
          <p:cNvPr id="5" name="Paquímetro" descr="Exercício 1: paquímetro milesimal com o traço coincidente marc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7480"/>
            <a:ext cx="7818120" cy="2353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15400" y="2057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Escala fixa</a:t>
            </a:r>
          </a:p>
        </p:txBody>
      </p:sp>
      <p:sp>
        <p:nvSpPr>
          <p:cNvPr id="7" name="Caixa Escala fixa"/>
          <p:cNvSpPr/>
          <p:nvPr/>
        </p:nvSpPr>
        <p:spPr>
          <a:xfrm>
            <a:off x="8915400" y="240487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3154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Nônio</a:t>
            </a:r>
          </a:p>
        </p:txBody>
      </p:sp>
      <p:sp>
        <p:nvSpPr>
          <p:cNvPr id="9" name="Caixa Nônio"/>
          <p:cNvSpPr/>
          <p:nvPr/>
        </p:nvSpPr>
        <p:spPr>
          <a:xfrm>
            <a:off x="8915400" y="350215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502152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4453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Leitura</a:t>
            </a:r>
          </a:p>
        </p:txBody>
      </p:sp>
      <p:sp>
        <p:nvSpPr>
          <p:cNvPr id="12" name="Caixa Leitura"/>
          <p:cNvSpPr/>
          <p:nvPr/>
        </p:nvSpPr>
        <p:spPr>
          <a:xfrm>
            <a:off x="8915400" y="4800600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800600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=</a:t>
            </a:r>
          </a:p>
        </p:txBody>
      </p:sp>
      <p:cxnSp>
        <p:nvCxnSpPr>
          <p:cNvPr id="14" name="Traço da soma"/>
          <p:cNvCxnSpPr/>
          <p:nvPr/>
        </p:nvCxnSpPr>
        <p:spPr>
          <a:xfrm>
            <a:off x="8412480" y="4325112"/>
            <a:ext cx="324612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4: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7818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86A00"/>
                </a:solidFill>
                <a:latin typeface="Calibri"/>
              </a:rPr>
              <a:t>Tracejado: </a:t>
            </a:r>
            <a:r>
              <a:rPr sz="2400" b="0">
                <a:solidFill>
                  <a:srgbClr val="002060"/>
                </a:solidFill>
                <a:latin typeface="Calibri"/>
              </a:rPr>
              <a:t>escala fixa   </a:t>
            </a:r>
            <a:r>
              <a:rPr sz="2400" b="1">
                <a:solidFill>
                  <a:srgbClr val="C86A00"/>
                </a:solidFill>
                <a:latin typeface="Calibri"/>
              </a:rPr>
              <a:t>Linha cheia: </a:t>
            </a:r>
            <a:r>
              <a:rPr sz="2400" b="0">
                <a:solidFill>
                  <a:srgbClr val="002060"/>
                </a:solidFill>
                <a:latin typeface="Calibri"/>
              </a:rPr>
              <a:t>traço do nônio</a:t>
            </a:r>
          </a:p>
        </p:txBody>
      </p:sp>
      <p:pic>
        <p:nvPicPr>
          <p:cNvPr id="5" name="Paquímetro" descr="Exercício 1: resposta, com a escala fixa e o traço do nônio marcad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7480"/>
            <a:ext cx="7818120" cy="2353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88219"/>
            <a:ext cx="7818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Escala fixa: .300" + 1 × .025" = .325"   ·   nônio: 22º traço = .022"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2057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Escala fixa</a:t>
            </a:r>
          </a:p>
        </p:txBody>
      </p:sp>
      <p:sp>
        <p:nvSpPr>
          <p:cNvPr id="8" name="Caixa Escala fixa"/>
          <p:cNvSpPr/>
          <p:nvPr/>
        </p:nvSpPr>
        <p:spPr>
          <a:xfrm>
            <a:off x="8915400" y="240487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240487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002060"/>
                </a:solidFill>
                <a:latin typeface="Calibri"/>
              </a:rPr>
              <a:t>.325"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3154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Nônio</a:t>
            </a:r>
          </a:p>
        </p:txBody>
      </p:sp>
      <p:sp>
        <p:nvSpPr>
          <p:cNvPr id="11" name="Caixa Nônio"/>
          <p:cNvSpPr/>
          <p:nvPr/>
        </p:nvSpPr>
        <p:spPr>
          <a:xfrm>
            <a:off x="8915400" y="350215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3502152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50215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002060"/>
                </a:solidFill>
                <a:latin typeface="Calibri"/>
              </a:rPr>
              <a:t>.022"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4453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Leitura</a:t>
            </a:r>
          </a:p>
        </p:txBody>
      </p:sp>
      <p:sp>
        <p:nvSpPr>
          <p:cNvPr id="15" name="Caixa Leitura"/>
          <p:cNvSpPr/>
          <p:nvPr/>
        </p:nvSpPr>
        <p:spPr>
          <a:xfrm>
            <a:off x="8915400" y="4800600"/>
            <a:ext cx="2743200" cy="658368"/>
          </a:xfrm>
          <a:prstGeom prst="rect">
            <a:avLst/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800600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4800600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FFFFFF"/>
                </a:solidFill>
                <a:latin typeface="Calibri"/>
              </a:rPr>
              <a:t>.347"</a:t>
            </a:r>
          </a:p>
        </p:txBody>
      </p:sp>
      <p:cxnSp>
        <p:nvCxnSpPr>
          <p:cNvPr id="18" name="Traço da soma"/>
          <p:cNvCxnSpPr/>
          <p:nvPr/>
        </p:nvCxnSpPr>
        <p:spPr>
          <a:xfrm>
            <a:off x="8412480" y="4325112"/>
            <a:ext cx="324612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7818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002060"/>
                </a:solidFill>
                <a:latin typeface="Calibri"/>
              </a:rPr>
              <a:t>Qual é a leitura? A </a:t>
            </a:r>
            <a:r>
              <a:rPr sz="2400" b="1">
                <a:solidFill>
                  <a:srgbClr val="E01E84"/>
                </a:solidFill>
                <a:latin typeface="Calibri"/>
              </a:rPr>
              <a:t>linha rosa</a:t>
            </a:r>
            <a:r>
              <a:rPr sz="2400" b="0">
                <a:solidFill>
                  <a:srgbClr val="002060"/>
                </a:solidFill>
                <a:latin typeface="Calibri"/>
              </a:rPr>
              <a:t> mostra o traço que coincide.</a:t>
            </a:r>
          </a:p>
        </p:txBody>
      </p:sp>
      <p:pic>
        <p:nvPicPr>
          <p:cNvPr id="5" name="Paquímetro" descr="Exercício 3: paquímetro milesimal com o traço coincidente marcad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7480"/>
            <a:ext cx="7818120" cy="2353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15400" y="2057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Escala fixa</a:t>
            </a:r>
          </a:p>
        </p:txBody>
      </p:sp>
      <p:sp>
        <p:nvSpPr>
          <p:cNvPr id="7" name="Caixa Escala fixa"/>
          <p:cNvSpPr/>
          <p:nvPr/>
        </p:nvSpPr>
        <p:spPr>
          <a:xfrm>
            <a:off x="8915400" y="240487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15400" y="3154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Nônio</a:t>
            </a:r>
          </a:p>
        </p:txBody>
      </p:sp>
      <p:sp>
        <p:nvSpPr>
          <p:cNvPr id="9" name="Caixa Nônio"/>
          <p:cNvSpPr/>
          <p:nvPr/>
        </p:nvSpPr>
        <p:spPr>
          <a:xfrm>
            <a:off x="8915400" y="350215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3502152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4453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Leitura</a:t>
            </a:r>
          </a:p>
        </p:txBody>
      </p:sp>
      <p:sp>
        <p:nvSpPr>
          <p:cNvPr id="12" name="Caixa Leitura"/>
          <p:cNvSpPr/>
          <p:nvPr/>
        </p:nvSpPr>
        <p:spPr>
          <a:xfrm>
            <a:off x="8915400" y="4800600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4800600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=</a:t>
            </a:r>
          </a:p>
        </p:txBody>
      </p:sp>
      <p:cxnSp>
        <p:nvCxnSpPr>
          <p:cNvPr id="14" name="Traço da soma"/>
          <p:cNvCxnSpPr/>
          <p:nvPr/>
        </p:nvCxnSpPr>
        <p:spPr>
          <a:xfrm>
            <a:off x="8412480" y="4325112"/>
            <a:ext cx="324612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5: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11680"/>
            <a:ext cx="7818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86A00"/>
                </a:solidFill>
                <a:latin typeface="Calibri"/>
              </a:rPr>
              <a:t>Tracejado: </a:t>
            </a:r>
            <a:r>
              <a:rPr sz="2400" b="0">
                <a:solidFill>
                  <a:srgbClr val="002060"/>
                </a:solidFill>
                <a:latin typeface="Calibri"/>
              </a:rPr>
              <a:t>escala fixa   </a:t>
            </a:r>
            <a:r>
              <a:rPr sz="2400" b="1">
                <a:solidFill>
                  <a:srgbClr val="C86A00"/>
                </a:solidFill>
                <a:latin typeface="Calibri"/>
              </a:rPr>
              <a:t>Linha cheia: </a:t>
            </a:r>
            <a:r>
              <a:rPr sz="2400" b="0">
                <a:solidFill>
                  <a:srgbClr val="002060"/>
                </a:solidFill>
                <a:latin typeface="Calibri"/>
              </a:rPr>
              <a:t>traço do nônio</a:t>
            </a:r>
          </a:p>
        </p:txBody>
      </p:sp>
      <p:pic>
        <p:nvPicPr>
          <p:cNvPr id="5" name="Paquímetro" descr="Exercício 3: resposta, com a escala fixa e o traço do nônio marcad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697480"/>
            <a:ext cx="7818120" cy="23535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188219"/>
            <a:ext cx="7818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4A5568"/>
                </a:solidFill>
                <a:latin typeface="Calibri"/>
              </a:rPr>
              <a:t>Escala fixa: 2" + .500" = 2.500"   ·   nônio: 6º traço = .006"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15400" y="2057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Escala fixa</a:t>
            </a:r>
          </a:p>
        </p:txBody>
      </p:sp>
      <p:sp>
        <p:nvSpPr>
          <p:cNvPr id="8" name="Caixa Escala fixa"/>
          <p:cNvSpPr/>
          <p:nvPr/>
        </p:nvSpPr>
        <p:spPr>
          <a:xfrm>
            <a:off x="8915400" y="240487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6840" y="240487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002060"/>
                </a:solidFill>
                <a:latin typeface="Calibri"/>
              </a:rPr>
              <a:t>2.500"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400" y="315468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Nônio</a:t>
            </a:r>
          </a:p>
        </p:txBody>
      </p:sp>
      <p:sp>
        <p:nvSpPr>
          <p:cNvPr id="11" name="Caixa Nônio"/>
          <p:cNvSpPr/>
          <p:nvPr/>
        </p:nvSpPr>
        <p:spPr>
          <a:xfrm>
            <a:off x="8915400" y="3502152"/>
            <a:ext cx="2743200" cy="658368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3502152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3502152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002060"/>
                </a:solidFill>
                <a:latin typeface="Calibri"/>
              </a:rPr>
              <a:t>.006"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445312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4A5568"/>
                </a:solidFill>
                <a:latin typeface="Calibri"/>
              </a:rPr>
              <a:t>Leitura</a:t>
            </a:r>
          </a:p>
        </p:txBody>
      </p:sp>
      <p:sp>
        <p:nvSpPr>
          <p:cNvPr id="15" name="Caixa Leitura"/>
          <p:cNvSpPr/>
          <p:nvPr/>
        </p:nvSpPr>
        <p:spPr>
          <a:xfrm>
            <a:off x="8915400" y="4800600"/>
            <a:ext cx="2743200" cy="658368"/>
          </a:xfrm>
          <a:prstGeom prst="rect">
            <a:avLst/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4800600"/>
            <a:ext cx="4114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600" b="1">
                <a:solidFill>
                  <a:srgbClr val="4A5568"/>
                </a:solidFill>
                <a:latin typeface="Calibri"/>
              </a:rPr>
              <a:t>=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4800600"/>
            <a:ext cx="24688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3400" b="1">
                <a:solidFill>
                  <a:srgbClr val="FFFFFF"/>
                </a:solidFill>
                <a:latin typeface="Calibri"/>
              </a:rPr>
              <a:t>2.506"</a:t>
            </a:r>
          </a:p>
        </p:txBody>
      </p:sp>
      <p:cxnSp>
        <p:nvCxnSpPr>
          <p:cNvPr id="18" name="Traço da soma"/>
          <p:cNvCxnSpPr/>
          <p:nvPr/>
        </p:nvCxnSpPr>
        <p:spPr>
          <a:xfrm>
            <a:off x="8412480" y="4325112"/>
            <a:ext cx="3246120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Fundo CEEP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7432" y="0"/>
            <a:ext cx="12225528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13232"/>
            <a:ext cx="9509760" cy="1051560"/>
          </a:xfrm>
        </p:spPr>
        <p:txBody>
          <a:bodyPr anchor="ctr"/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Agora jogue: Missão Metrologia</a:t>
            </a:r>
          </a:p>
        </p:txBody>
      </p:sp>
      <p:sp>
        <p:nvSpPr>
          <p:cNvPr id="4" name="Explorar"/>
          <p:cNvSpPr/>
          <p:nvPr/>
        </p:nvSpPr>
        <p:spPr>
          <a:xfrm>
            <a:off x="548640" y="201168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402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Mundo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Polegada milesimal: escala fixa, nônio, leitura e abrir na medida</a:t>
            </a:r>
          </a:p>
        </p:txBody>
      </p:sp>
      <p:sp>
        <p:nvSpPr>
          <p:cNvPr id="7" name="Básico"/>
          <p:cNvSpPr/>
          <p:nvPr/>
        </p:nvSpPr>
        <p:spPr>
          <a:xfrm>
            <a:off x="3364992" y="201168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3592" y="22402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Mundo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3592" y="2971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Tolerâncias: cota, máxima, mínima e passa ou não passa</a:t>
            </a:r>
          </a:p>
        </p:txBody>
      </p:sp>
      <p:sp>
        <p:nvSpPr>
          <p:cNvPr id="10" name="Médio"/>
          <p:cNvSpPr/>
          <p:nvPr/>
        </p:nvSpPr>
        <p:spPr>
          <a:xfrm>
            <a:off x="6181344" y="201168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312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2402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Chefão final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9944" y="2971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Leia em polegada e decida se a peça passa</a:t>
            </a:r>
          </a:p>
        </p:txBody>
      </p:sp>
      <p:sp>
        <p:nvSpPr>
          <p:cNvPr id="13" name="Avançado"/>
          <p:cNvSpPr/>
          <p:nvPr/>
        </p:nvSpPr>
        <p:spPr>
          <a:xfrm>
            <a:off x="8997696" y="201168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26296" y="22402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Relatório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6296" y="2971800"/>
            <a:ext cx="21945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No fim, baixe o PDF com estrelas, XP e onde errou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00600"/>
            <a:ext cx="111099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800" b="1">
                <a:solidFill>
                  <a:srgbClr val="C00000"/>
                </a:solidFill>
                <a:latin typeface="Calibri"/>
              </a:rPr>
              <a:t>martinsrl1-web.github.io/fazenda-de-projetos</a:t>
            </a:r>
          </a:p>
          <a:p>
            <a:pPr algn="ctr"/>
            <a:r>
              <a:rPr sz="2800" b="0">
                <a:solidFill>
                  <a:srgbClr val="002060"/>
                </a:solidFill>
                <a:latin typeface="Calibri"/>
              </a:rPr>
              <a:t>Metrologia › Missão Metrologia (revisão por fases)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COMO SE LÊ UMA COTA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057400"/>
            <a:ext cx="11064240" cy="182880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15000" b="1" i="0">
                <a:solidFill>
                  <a:srgbClr val="C00000"/>
                </a:solidFill>
                <a:latin typeface="Calibri"/>
              </a:rPr>
              <a:t>25</a:t>
            </a:r>
            <a:r>
              <a:rPr sz="15000" b="1" i="0">
                <a:solidFill>
                  <a:srgbClr val="002060"/>
                </a:solidFill>
                <a:latin typeface="Calibri"/>
              </a:rPr>
              <a:t> ± </a:t>
            </a:r>
            <a:r>
              <a:rPr sz="15000" b="1" i="0">
                <a:solidFill>
                  <a:srgbClr val="A85400"/>
                </a:solidFill>
                <a:latin typeface="Calibri"/>
              </a:rPr>
              <a:t>0,5</a:t>
            </a:r>
          </a:p>
        </p:txBody>
      </p:sp>
      <p:sp>
        <p:nvSpPr>
          <p:cNvPr id="5" name="Parte nominal"/>
          <p:cNvSpPr/>
          <p:nvPr/>
        </p:nvSpPr>
        <p:spPr>
          <a:xfrm>
            <a:off x="822960" y="4160520"/>
            <a:ext cx="5029200" cy="15544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4251960"/>
            <a:ext cx="45720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C00000"/>
                </a:solidFill>
                <a:latin typeface="Calibri"/>
              </a:rPr>
              <a:t>25 = medida nominal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892040"/>
            <a:ext cx="45720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o valor pedido no desenho</a:t>
            </a:r>
          </a:p>
        </p:txBody>
      </p:sp>
      <p:sp>
        <p:nvSpPr>
          <p:cNvPr id="8" name="Parte tolerância"/>
          <p:cNvSpPr/>
          <p:nvPr/>
        </p:nvSpPr>
        <p:spPr>
          <a:xfrm>
            <a:off x="6309360" y="4160520"/>
            <a:ext cx="5029200" cy="155448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537960" y="4251960"/>
            <a:ext cx="4572000" cy="64008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3000" b="1" i="0">
                <a:solidFill>
                  <a:srgbClr val="A85400"/>
                </a:solidFill>
                <a:latin typeface="Calibri"/>
              </a:rPr>
              <a:t>± 0,5 = tolerância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4892040"/>
            <a:ext cx="4572000" cy="7315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quanto pode variar para cada lado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FAIXA DE TOLERÂNCIA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DENTRO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24,5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25,5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largura da faixa = 25,5 − 24,5 = 1 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É sempre o dobro da tolerância: 2 × 0,5 = 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AS QUATRO CONTAS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74519"/>
          <a:ext cx="11064240" cy="3931920"/>
        </p:xfrm>
        <a:graphic>
          <a:graphicData uri="http://schemas.openxmlformats.org/drawingml/2006/table">
            <a:tbl>
              <a:tblPr firstRow="1" bandRow="0"/>
              <a:tblGrid>
                <a:gridCol w="2377440"/>
                <a:gridCol w="5669280"/>
                <a:gridCol w="3017520"/>
              </a:tblGrid>
              <a:tr h="786384"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</a:rPr>
                        <a:t>O quê</a:t>
                      </a:r>
                    </a:p>
                  </a:txBody>
                  <a:tcPr marL="109728" marR="109728" anchor="ctr">
                    <a:solidFill>
                      <a:srgbClr val="312B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</a:rPr>
                        <a:t>Como achar</a:t>
                      </a:r>
                    </a:p>
                  </a:txBody>
                  <a:tcPr marL="109728" marR="109728" anchor="ctr">
                    <a:solidFill>
                      <a:srgbClr val="312B5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FFFFFF"/>
                          </a:solidFill>
                          <a:latin typeface="Calibri"/>
                        </a:rPr>
                        <a:t>Em 25 ± 0,5</a:t>
                      </a:r>
                    </a:p>
                  </a:txBody>
                  <a:tcPr marL="109728" marR="109728" anchor="ctr">
                    <a:solidFill>
                      <a:srgbClr val="312B50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002060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O número antes do ±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25 mm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002060"/>
                          </a:solidFill>
                          <a:latin typeface="Calibri"/>
                        </a:rPr>
                        <a:t>Máxima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Nominal + tolerância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25,5 mm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002060"/>
                          </a:solidFill>
                          <a:latin typeface="Calibri"/>
                        </a:rPr>
                        <a:t>Mínima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Nominal − tolerância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24,5 mm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r>
                        <a:rPr sz="3000" b="1">
                          <a:solidFill>
                            <a:srgbClr val="002060"/>
                          </a:solidFill>
                          <a:latin typeface="Calibri"/>
                        </a:rPr>
                        <a:t>Faixa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Máxima − mínima (2 × tolerância)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3000" b="0">
                          <a:solidFill>
                            <a:srgbClr val="002060"/>
                          </a:solidFill>
                          <a:latin typeface="Calibri"/>
                        </a:rPr>
                        <a:t>1 mm</a:t>
                      </a:r>
                    </a:p>
                  </a:txBody>
                  <a:tcPr marL="109728" marR="109728" anchor="ctr"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PASSA OU NÃO PASSA?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PASSA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24,5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25,5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Passa entre a mínima e a máxima. No limite, ainda passa.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Cota 25 ± 0,5:  25,3 passa · 25,5 passa · 25,6 não passa · 24,4 não passa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TUDO JUNTO: TOLERÂNCIA EM POLEGADA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DENTRO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1.245"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1.250"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1.255"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Cota 1.250" ± .005": aceita de 1.245" a 1.255"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Leia o paquímetro e compare:  1.252" passa · 1.257" não passa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3: PASSA OU NÃO PASSA?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PASSA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Cota 40 ± 0,3. As peças mediram: 40,2 · 40,35 · 39,7 · 39,6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Ache a mínima e a máxima. Quais peças passam?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3: RESPOSTA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PASSA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NÃO PASSA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39,7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40,3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Passam: 40,2 e 39,7 (no limite)  ·  Não passam: 40,35 e 39,6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Aceita de 40 − 0,3 = 39,7 até 40 + 0,3 = 40,3 mm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6: TUDO JUNTO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DENTRO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2.500"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Cota 2.500" ± .010". No exercício 5, o paquímetro leu 2.506".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Ache a mínima e a máxima. A peça passa ou não passa?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6: RESPOSTA</a:t>
            </a:r>
          </a:p>
        </p:txBody>
      </p:sp>
      <p:sp>
        <p:nvSpPr>
          <p:cNvPr id="4" name="Faixa FORA"/>
          <p:cNvSpPr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40080" y="2926080"/>
            <a:ext cx="2176272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6" name="Faixa DENTRO"/>
          <p:cNvSpPr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solidFill>
            <a:srgbClr val="D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816352" y="2926080"/>
            <a:ext cx="6528816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1E7A46"/>
                </a:solidFill>
                <a:latin typeface="Calibri"/>
              </a:rPr>
              <a:t>DENTRO</a:t>
            </a:r>
          </a:p>
        </p:txBody>
      </p:sp>
      <p:sp>
        <p:nvSpPr>
          <p:cNvPr id="8" name="Faixa FORA"/>
          <p:cNvSpPr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solidFill>
            <a:srgbClr val="F8D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45168" y="2926080"/>
            <a:ext cx="2176271" cy="86868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2600" b="1" i="0">
                <a:solidFill>
                  <a:srgbClr val="C00000"/>
                </a:solidFill>
                <a:latin typeface="Calibri"/>
              </a:rPr>
              <a:t>FORA</a:t>
            </a:r>
          </a:p>
        </p:txBody>
      </p:sp>
      <p:sp>
        <p:nvSpPr>
          <p:cNvPr id="10" name="Linha mínima"/>
          <p:cNvSpPr/>
          <p:nvPr/>
        </p:nvSpPr>
        <p:spPr>
          <a:xfrm>
            <a:off x="2784348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719072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2.490"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19072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mínima</a:t>
            </a:r>
          </a:p>
        </p:txBody>
      </p:sp>
      <p:sp>
        <p:nvSpPr>
          <p:cNvPr id="13" name="Marca nominal acima"/>
          <p:cNvSpPr/>
          <p:nvPr/>
        </p:nvSpPr>
        <p:spPr>
          <a:xfrm>
            <a:off x="6048756" y="274320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Marca nominal abaixo"/>
          <p:cNvSpPr/>
          <p:nvPr/>
        </p:nvSpPr>
        <p:spPr>
          <a:xfrm>
            <a:off x="6048756" y="3749040"/>
            <a:ext cx="64008" cy="2286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983480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C00000"/>
                </a:solidFill>
                <a:latin typeface="Calibri"/>
              </a:rPr>
              <a:t>2.500"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3480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nominal</a:t>
            </a:r>
          </a:p>
        </p:txBody>
      </p:sp>
      <p:sp>
        <p:nvSpPr>
          <p:cNvPr id="17" name="Linha máxima"/>
          <p:cNvSpPr/>
          <p:nvPr/>
        </p:nvSpPr>
        <p:spPr>
          <a:xfrm>
            <a:off x="9313164" y="2743200"/>
            <a:ext cx="64008" cy="123444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247888" y="1965960"/>
            <a:ext cx="2194560" cy="777240"/>
          </a:xfrm>
          <a:prstGeom prst="rect">
            <a:avLst/>
          </a:prstGeom>
          <a:noFill/>
        </p:spPr>
        <p:txBody>
          <a:bodyPr wrap="square" anchor="b" lIns="73152" rIns="73152" tIns="36576" bIns="36576">
            <a:spAutoFit/>
          </a:bodyPr>
          <a:lstStyle/>
          <a:p>
            <a:pPr algn="ctr"/>
            <a:r>
              <a:rPr sz="4400" b="1" i="0">
                <a:solidFill>
                  <a:srgbClr val="002060"/>
                </a:solidFill>
                <a:latin typeface="Calibri"/>
              </a:rPr>
              <a:t>2.510"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7888" y="4023360"/>
            <a:ext cx="2194560" cy="45720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máxima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816352" y="4663440"/>
            <a:ext cx="6528816" cy="0"/>
          </a:xfrm>
          <a:prstGeom prst="line">
            <a:avLst/>
          </a:prstGeom>
          <a:ln w="3175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0080" y="4754880"/>
            <a:ext cx="10881360" cy="59436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002060"/>
                </a:solidFill>
                <a:latin typeface="Calibri"/>
              </a:rPr>
              <a:t>Aceita de 2.490" a 2.510". 2.506" está dentro: PASSA.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400" b="0" i="0">
                <a:solidFill>
                  <a:srgbClr val="4A5568"/>
                </a:solidFill>
                <a:latin typeface="Calibri"/>
              </a:rPr>
              <a:t>Se o paquímetro lesse 2.512", não passaria: acima da máxima.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799"/>
            <a:ext cx="54864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Encontre os valores (em mm):</a:t>
            </a:r>
          </a:p>
        </p:txBody>
      </p:sp>
      <p:sp>
        <p:nvSpPr>
          <p:cNvPr id="5" name="Pino"/>
          <p:cNvSpPr/>
          <p:nvPr/>
        </p:nvSpPr>
        <p:spPr>
          <a:xfrm>
            <a:off x="731520" y="2651760"/>
            <a:ext cx="3291840" cy="2011680"/>
          </a:xfrm>
          <a:prstGeom prst="rect">
            <a:avLst/>
          </a:prstGeom>
          <a:solidFill>
            <a:srgbClr val="C9D2DE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4297680" y="2651760"/>
            <a:ext cx="0" cy="2011680"/>
          </a:xfrm>
          <a:prstGeom prst="line">
            <a:avLst/>
          </a:prstGeom>
          <a:ln w="2540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4892040"/>
            <a:ext cx="329184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000" b="0" i="0">
                <a:solidFill>
                  <a:srgbClr val="4A5568"/>
                </a:solidFill>
                <a:latin typeface="Calibri"/>
              </a:rPr>
              <a:t>pino (vista lateral)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246120"/>
            <a:ext cx="1645920" cy="8229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C00000"/>
                </a:solidFill>
                <a:latin typeface="Calibri"/>
              </a:rPr>
              <a:t>Ø 18 ± 0,1</a:t>
            </a:r>
          </a:p>
        </p:txBody>
      </p:sp>
      <p:sp>
        <p:nvSpPr>
          <p:cNvPr id="9" name="Linha Nominal"/>
          <p:cNvSpPr/>
          <p:nvPr/>
        </p:nvSpPr>
        <p:spPr>
          <a:xfrm>
            <a:off x="6172200" y="192023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55080" y="192023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Nominal</a:t>
            </a:r>
          </a:p>
        </p:txBody>
      </p:sp>
      <p:sp>
        <p:nvSpPr>
          <p:cNvPr id="11" name="Espaço Nominal"/>
          <p:cNvSpPr/>
          <p:nvPr/>
        </p:nvSpPr>
        <p:spPr>
          <a:xfrm>
            <a:off x="8183879" y="2029967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3879" y="2029967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13" name="Linha Máxima"/>
          <p:cNvSpPr/>
          <p:nvPr/>
        </p:nvSpPr>
        <p:spPr>
          <a:xfrm>
            <a:off x="6172200" y="292607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292607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Máxima</a:t>
            </a:r>
          </a:p>
        </p:txBody>
      </p:sp>
      <p:sp>
        <p:nvSpPr>
          <p:cNvPr id="15" name="Espaço Máxima"/>
          <p:cNvSpPr/>
          <p:nvPr/>
        </p:nvSpPr>
        <p:spPr>
          <a:xfrm>
            <a:off x="8183879" y="303580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303580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17" name="Linha Mínima"/>
          <p:cNvSpPr/>
          <p:nvPr/>
        </p:nvSpPr>
        <p:spPr>
          <a:xfrm>
            <a:off x="6172200" y="393192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55080" y="393192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Mínima</a:t>
            </a:r>
          </a:p>
        </p:txBody>
      </p:sp>
      <p:sp>
        <p:nvSpPr>
          <p:cNvPr id="19" name="Espaço Mínima"/>
          <p:cNvSpPr/>
          <p:nvPr/>
        </p:nvSpPr>
        <p:spPr>
          <a:xfrm>
            <a:off x="8183879" y="404164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183879" y="404164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21" name="Linha Faixa"/>
          <p:cNvSpPr/>
          <p:nvPr/>
        </p:nvSpPr>
        <p:spPr>
          <a:xfrm>
            <a:off x="6172200" y="493776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355080" y="493776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Faixa</a:t>
            </a:r>
          </a:p>
        </p:txBody>
      </p:sp>
      <p:sp>
        <p:nvSpPr>
          <p:cNvPr id="23" name="Espaço Faixa"/>
          <p:cNvSpPr/>
          <p:nvPr/>
        </p:nvSpPr>
        <p:spPr>
          <a:xfrm>
            <a:off x="8183879" y="504748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8183879" y="504748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1: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799"/>
            <a:ext cx="54864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Encontre os valores (em mm):</a:t>
            </a:r>
          </a:p>
        </p:txBody>
      </p:sp>
      <p:sp>
        <p:nvSpPr>
          <p:cNvPr id="5" name="Pino"/>
          <p:cNvSpPr/>
          <p:nvPr/>
        </p:nvSpPr>
        <p:spPr>
          <a:xfrm>
            <a:off x="731520" y="2651760"/>
            <a:ext cx="3291840" cy="2011680"/>
          </a:xfrm>
          <a:prstGeom prst="rect">
            <a:avLst/>
          </a:prstGeom>
          <a:solidFill>
            <a:srgbClr val="C9D2DE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6" name="Connector 5"/>
          <p:cNvCxnSpPr/>
          <p:nvPr/>
        </p:nvCxnSpPr>
        <p:spPr>
          <a:xfrm>
            <a:off x="4297680" y="2651760"/>
            <a:ext cx="0" cy="2011680"/>
          </a:xfrm>
          <a:prstGeom prst="line">
            <a:avLst/>
          </a:prstGeom>
          <a:ln w="25400">
            <a:solidFill>
              <a:srgbClr val="00206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4892040"/>
            <a:ext cx="329184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000" b="0" i="0">
                <a:solidFill>
                  <a:srgbClr val="4A5568"/>
                </a:solidFill>
                <a:latin typeface="Calibri"/>
              </a:rPr>
              <a:t>pino (vista lateral)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246120"/>
            <a:ext cx="1645920" cy="82296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C00000"/>
                </a:solidFill>
                <a:latin typeface="Calibri"/>
              </a:rPr>
              <a:t>Ø 18 ± 0,1</a:t>
            </a:r>
          </a:p>
        </p:txBody>
      </p:sp>
      <p:sp>
        <p:nvSpPr>
          <p:cNvPr id="9" name="Linha Nominal"/>
          <p:cNvSpPr/>
          <p:nvPr/>
        </p:nvSpPr>
        <p:spPr>
          <a:xfrm>
            <a:off x="6172200" y="192023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55080" y="192023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Nominal</a:t>
            </a:r>
          </a:p>
        </p:txBody>
      </p:sp>
      <p:sp>
        <p:nvSpPr>
          <p:cNvPr id="11" name="Resposta Nominal"/>
          <p:cNvSpPr/>
          <p:nvPr/>
        </p:nvSpPr>
        <p:spPr>
          <a:xfrm>
            <a:off x="8183879" y="2029967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183879" y="2029967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920239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antes do ±</a:t>
            </a:r>
          </a:p>
        </p:txBody>
      </p:sp>
      <p:sp>
        <p:nvSpPr>
          <p:cNvPr id="14" name="Linha Máxima"/>
          <p:cNvSpPr/>
          <p:nvPr/>
        </p:nvSpPr>
        <p:spPr>
          <a:xfrm>
            <a:off x="6172200" y="292607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355080" y="292607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Máxima</a:t>
            </a:r>
          </a:p>
        </p:txBody>
      </p:sp>
      <p:sp>
        <p:nvSpPr>
          <p:cNvPr id="16" name="Resposta Máxima"/>
          <p:cNvSpPr/>
          <p:nvPr/>
        </p:nvSpPr>
        <p:spPr>
          <a:xfrm>
            <a:off x="8183879" y="303580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183879" y="303580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18,1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2926079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18 + 0,1</a:t>
            </a:r>
          </a:p>
        </p:txBody>
      </p:sp>
      <p:sp>
        <p:nvSpPr>
          <p:cNvPr id="19" name="Linha Mínima"/>
          <p:cNvSpPr/>
          <p:nvPr/>
        </p:nvSpPr>
        <p:spPr>
          <a:xfrm>
            <a:off x="6172200" y="393192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355080" y="393192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Mínima</a:t>
            </a:r>
          </a:p>
        </p:txBody>
      </p:sp>
      <p:sp>
        <p:nvSpPr>
          <p:cNvPr id="21" name="Resposta Mínima"/>
          <p:cNvSpPr/>
          <p:nvPr/>
        </p:nvSpPr>
        <p:spPr>
          <a:xfrm>
            <a:off x="8183879" y="404164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83879" y="404164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17,9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3931920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18 − 0,1</a:t>
            </a:r>
          </a:p>
        </p:txBody>
      </p:sp>
      <p:sp>
        <p:nvSpPr>
          <p:cNvPr id="24" name="Linha Faixa"/>
          <p:cNvSpPr/>
          <p:nvPr/>
        </p:nvSpPr>
        <p:spPr>
          <a:xfrm>
            <a:off x="6172200" y="493776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355080" y="493776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Faixa</a:t>
            </a:r>
          </a:p>
        </p:txBody>
      </p:sp>
      <p:sp>
        <p:nvSpPr>
          <p:cNvPr id="26" name="Resposta Faixa"/>
          <p:cNvSpPr/>
          <p:nvPr/>
        </p:nvSpPr>
        <p:spPr>
          <a:xfrm>
            <a:off x="8183879" y="504748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183879" y="504748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0,2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12680" y="4937760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18,1 − 17,9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799"/>
            <a:ext cx="54864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Encontre os valores (em mm):</a:t>
            </a:r>
          </a:p>
        </p:txBody>
      </p:sp>
      <p:sp>
        <p:nvSpPr>
          <p:cNvPr id="5" name="Cota"/>
          <p:cNvSpPr/>
          <p:nvPr/>
        </p:nvSpPr>
        <p:spPr>
          <a:xfrm>
            <a:off x="731520" y="2514600"/>
            <a:ext cx="4937760" cy="27432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493776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200" b="0" i="0">
                <a:solidFill>
                  <a:srgbClr val="4A5568"/>
                </a:solidFill>
                <a:latin typeface="Calibri"/>
              </a:rPr>
              <a:t>cota do desenho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4937760" cy="21031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6000" b="1" i="0">
                <a:solidFill>
                  <a:srgbClr val="002060"/>
                </a:solidFill>
                <a:latin typeface="Calibri"/>
              </a:rPr>
              <a:t>40 ± 0,3</a:t>
            </a:r>
          </a:p>
        </p:txBody>
      </p:sp>
      <p:sp>
        <p:nvSpPr>
          <p:cNvPr id="8" name="Linha Nominal"/>
          <p:cNvSpPr/>
          <p:nvPr/>
        </p:nvSpPr>
        <p:spPr>
          <a:xfrm>
            <a:off x="6172200" y="192023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0" y="192023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Nominal</a:t>
            </a:r>
          </a:p>
        </p:txBody>
      </p:sp>
      <p:sp>
        <p:nvSpPr>
          <p:cNvPr id="10" name="Espaço Nominal"/>
          <p:cNvSpPr/>
          <p:nvPr/>
        </p:nvSpPr>
        <p:spPr>
          <a:xfrm>
            <a:off x="8183879" y="2029967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83879" y="2029967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12" name="Linha Máxima"/>
          <p:cNvSpPr/>
          <p:nvPr/>
        </p:nvSpPr>
        <p:spPr>
          <a:xfrm>
            <a:off x="6172200" y="292607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55080" y="292607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Máxima</a:t>
            </a:r>
          </a:p>
        </p:txBody>
      </p:sp>
      <p:sp>
        <p:nvSpPr>
          <p:cNvPr id="14" name="Espaço Máxima"/>
          <p:cNvSpPr/>
          <p:nvPr/>
        </p:nvSpPr>
        <p:spPr>
          <a:xfrm>
            <a:off x="8183879" y="303580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183879" y="303580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16" name="Linha Mínima"/>
          <p:cNvSpPr/>
          <p:nvPr/>
        </p:nvSpPr>
        <p:spPr>
          <a:xfrm>
            <a:off x="6172200" y="393192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355080" y="393192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Mínima</a:t>
            </a:r>
          </a:p>
        </p:txBody>
      </p:sp>
      <p:sp>
        <p:nvSpPr>
          <p:cNvPr id="18" name="Espaço Mínima"/>
          <p:cNvSpPr/>
          <p:nvPr/>
        </p:nvSpPr>
        <p:spPr>
          <a:xfrm>
            <a:off x="8183879" y="404164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183879" y="404164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  <p:sp>
        <p:nvSpPr>
          <p:cNvPr id="20" name="Linha Faixa"/>
          <p:cNvSpPr/>
          <p:nvPr/>
        </p:nvSpPr>
        <p:spPr>
          <a:xfrm>
            <a:off x="6172200" y="493776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5080" y="493776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Faixa</a:t>
            </a:r>
          </a:p>
        </p:txBody>
      </p:sp>
      <p:sp>
        <p:nvSpPr>
          <p:cNvPr id="22" name="Espaço Faixa"/>
          <p:cNvSpPr/>
          <p:nvPr/>
        </p:nvSpPr>
        <p:spPr>
          <a:xfrm>
            <a:off x="8183879" y="504748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4A556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183879" y="504748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4A5568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Fundo do model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9300" y="0"/>
            <a:ext cx="12221300" cy="6857999"/>
          </a:xfrm>
          <a:prstGeom prst="rect">
            <a:avLst/>
          </a:prstGeom>
        </p:spPr>
      </p:pic>
      <p:sp>
        <p:nvSpPr>
          <p:cNvPr id="3" name="Título"/>
          <p:cNvSpPr txBox="1"/>
          <p:nvPr/>
        </p:nvSpPr>
        <p:spPr>
          <a:xfrm>
            <a:off x="411480" y="713232"/>
            <a:ext cx="9509760" cy="10515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r>
              <a:rPr sz="3800" b="1">
                <a:solidFill>
                  <a:srgbClr val="C00000"/>
                </a:solidFill>
                <a:latin typeface="Calibri"/>
              </a:rPr>
              <a:t>EXERCÍCIO 2: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28799"/>
            <a:ext cx="5486400" cy="54864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l"/>
            <a:r>
              <a:rPr sz="2400" b="0" i="0">
                <a:solidFill>
                  <a:srgbClr val="4A5568"/>
                </a:solidFill>
                <a:latin typeface="Calibri"/>
              </a:rPr>
              <a:t>Encontre os valores (em mm):</a:t>
            </a:r>
          </a:p>
        </p:txBody>
      </p:sp>
      <p:sp>
        <p:nvSpPr>
          <p:cNvPr id="5" name="Cota"/>
          <p:cNvSpPr/>
          <p:nvPr/>
        </p:nvSpPr>
        <p:spPr>
          <a:xfrm>
            <a:off x="731520" y="2514600"/>
            <a:ext cx="4937760" cy="2743200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4937760" cy="502920"/>
          </a:xfrm>
          <a:prstGeom prst="rect">
            <a:avLst/>
          </a:prstGeom>
          <a:noFill/>
        </p:spPr>
        <p:txBody>
          <a:bodyPr wrap="square" anchor="t" lIns="73152" rIns="73152" tIns="36576" bIns="36576">
            <a:spAutoFit/>
          </a:bodyPr>
          <a:lstStyle/>
          <a:p>
            <a:pPr algn="ctr"/>
            <a:r>
              <a:rPr sz="2200" b="0" i="0">
                <a:solidFill>
                  <a:srgbClr val="4A5568"/>
                </a:solidFill>
                <a:latin typeface="Calibri"/>
              </a:rPr>
              <a:t>cota do desenho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4937760" cy="2103120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6000" b="1" i="0">
                <a:solidFill>
                  <a:srgbClr val="002060"/>
                </a:solidFill>
                <a:latin typeface="Calibri"/>
              </a:rPr>
              <a:t>40 ± 0,3</a:t>
            </a:r>
          </a:p>
        </p:txBody>
      </p:sp>
      <p:sp>
        <p:nvSpPr>
          <p:cNvPr id="8" name="Linha Nominal"/>
          <p:cNvSpPr/>
          <p:nvPr/>
        </p:nvSpPr>
        <p:spPr>
          <a:xfrm>
            <a:off x="6172200" y="192023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355080" y="192023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Nominal</a:t>
            </a:r>
          </a:p>
        </p:txBody>
      </p:sp>
      <p:sp>
        <p:nvSpPr>
          <p:cNvPr id="10" name="Resposta Nominal"/>
          <p:cNvSpPr/>
          <p:nvPr/>
        </p:nvSpPr>
        <p:spPr>
          <a:xfrm>
            <a:off x="8183879" y="2029967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83879" y="2029967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1920239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antes do ±</a:t>
            </a:r>
          </a:p>
        </p:txBody>
      </p:sp>
      <p:sp>
        <p:nvSpPr>
          <p:cNvPr id="13" name="Linha Máxima"/>
          <p:cNvSpPr/>
          <p:nvPr/>
        </p:nvSpPr>
        <p:spPr>
          <a:xfrm>
            <a:off x="6172200" y="2926079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55080" y="2926079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Máxima</a:t>
            </a:r>
          </a:p>
        </p:txBody>
      </p:sp>
      <p:sp>
        <p:nvSpPr>
          <p:cNvPr id="15" name="Resposta Máxima"/>
          <p:cNvSpPr/>
          <p:nvPr/>
        </p:nvSpPr>
        <p:spPr>
          <a:xfrm>
            <a:off x="8183879" y="303580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183879" y="303580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40,3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2926079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40 + 0,3</a:t>
            </a:r>
          </a:p>
        </p:txBody>
      </p:sp>
      <p:sp>
        <p:nvSpPr>
          <p:cNvPr id="18" name="Linha Mínima"/>
          <p:cNvSpPr/>
          <p:nvPr/>
        </p:nvSpPr>
        <p:spPr>
          <a:xfrm>
            <a:off x="6172200" y="393192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Mínima</a:t>
            </a:r>
          </a:p>
        </p:txBody>
      </p:sp>
      <p:sp>
        <p:nvSpPr>
          <p:cNvPr id="20" name="Resposta Mínima"/>
          <p:cNvSpPr/>
          <p:nvPr/>
        </p:nvSpPr>
        <p:spPr>
          <a:xfrm>
            <a:off x="8183879" y="404164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183879" y="404164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39,7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12680" y="3931920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40 − 0,3</a:t>
            </a:r>
          </a:p>
        </p:txBody>
      </p:sp>
      <p:sp>
        <p:nvSpPr>
          <p:cNvPr id="23" name="Linha Faixa"/>
          <p:cNvSpPr/>
          <p:nvPr/>
        </p:nvSpPr>
        <p:spPr>
          <a:xfrm>
            <a:off x="6172200" y="4937760"/>
            <a:ext cx="5440680" cy="896112"/>
          </a:xfrm>
          <a:prstGeom prst="roundRect">
            <a:avLst>
              <a:gd name="adj" fmla="val 8000"/>
            </a:avLst>
          </a:prstGeom>
          <a:solidFill>
            <a:srgbClr val="EE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355080" y="4937760"/>
            <a:ext cx="17830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800" b="1" i="0">
                <a:solidFill>
                  <a:srgbClr val="002060"/>
                </a:solidFill>
                <a:latin typeface="Calibri"/>
              </a:rPr>
              <a:t>Faixa</a:t>
            </a:r>
          </a:p>
        </p:txBody>
      </p:sp>
      <p:sp>
        <p:nvSpPr>
          <p:cNvPr id="25" name="Resposta Faixa"/>
          <p:cNvSpPr/>
          <p:nvPr/>
        </p:nvSpPr>
        <p:spPr>
          <a:xfrm>
            <a:off x="8183879" y="5047488"/>
            <a:ext cx="1783080" cy="67665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7A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183879" y="5047488"/>
            <a:ext cx="1783080" cy="676656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ctr"/>
            <a:r>
              <a:rPr sz="3000" b="1" i="0">
                <a:solidFill>
                  <a:srgbClr val="1E7A46"/>
                </a:solidFill>
                <a:latin typeface="Calibri"/>
              </a:rPr>
              <a:t>0,6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937760"/>
            <a:ext cx="1554480" cy="896112"/>
          </a:xfrm>
          <a:prstGeom prst="rect">
            <a:avLst/>
          </a:prstGeom>
          <a:noFill/>
        </p:spPr>
        <p:txBody>
          <a:bodyPr wrap="square" anchor="ctr" lIns="73152" rIns="73152" tIns="36576" bIns="36576">
            <a:spAutoFit/>
          </a:bodyPr>
          <a:lstStyle/>
          <a:p>
            <a:pPr algn="l"/>
            <a:r>
              <a:rPr sz="2000" b="0" i="0">
                <a:solidFill>
                  <a:srgbClr val="4A5568"/>
                </a:solidFill>
                <a:latin typeface="Calibri"/>
              </a:rPr>
              <a:t>40,3 − 39,7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2020-02-04T02:22:18Z</dcterms:created>
  <dc:creator>Martins</dc:creator>
</cp:coreProperties>
</file>